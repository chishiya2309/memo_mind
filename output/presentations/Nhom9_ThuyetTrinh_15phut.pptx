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0467" autoAdjust="0"/>
  </p:normalViewPr>
  <p:slideViewPr>
    <p:cSldViewPr snapToGrid="0">
      <p:cViewPr varScale="1">
        <p:scale>
          <a:sx n="42" d="100"/>
          <a:sy n="42" d="100"/>
        </p:scale>
        <p:origin x="99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mục tiêu: 20 giây.</a:t>
            </a:r>
          </a:p>
          <a:p>
            <a:r>
              <a:t>Gợi ý nói: Giới thiệu tên đề tài, nhóm và mục tiêu một câu: biến tài liệu bài giảng thành thẻ ôn có thể học theo lịch.</a:t>
            </a:r>
          </a:p>
          <a:p>
            <a:r>
              <a:t>Nguồn đối chiếu: Báo cáo cuối kỳ, trang PDF 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mục tiêu: 50 giây.</a:t>
            </a:r>
          </a:p>
          <a:p>
            <a:r>
              <a:t>Gợi ý nói: Nêu ba khó khăn trong một ví dụ học tập. Chốt bằng mục tiêu của MemoMind; không khẳng định ứng dụng đã cải thiện điểm số.</a:t>
            </a:r>
          </a:p>
          <a:p>
            <a:r>
              <a:t>Nguồn đối chiếu: Báo cáo cuối kỳ, trang PDF 9–11.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mục tiêu: 50 giây.</a:t>
            </a:r>
          </a:p>
          <a:p>
            <a:r>
              <a:t>Gợi ý nói: Đi qua bốn chặng trong một câu. Nhấn mạnh hai lần người dùng quyết định: xác nhận OCR và duyệt thẻ AI.</a:t>
            </a:r>
          </a:p>
          <a:p>
            <a:r>
              <a:t>Nguồn đối chiếu: Báo cáo cuối kỳ, trang PDF 27–28.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mục tiêu: 80 giây.</a:t>
            </a:r>
          </a:p>
          <a:p>
            <a:r>
              <a:t>Gợi ý nói: Giải thích ranh giới: thiết bị là nơi đọc/ghi chính cho học liệu; backend giữ khóa AI và gọi cloud. Gemini chỉ dành cho vùng ảnh người dùng chủ động chọn.</a:t>
            </a:r>
          </a:p>
          <a:p>
            <a:r>
              <a:t>Nguồn đối chiếu: Báo cáo cuối kỳ, trang PDF 15–16 và 29–31.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mục tiêu: 90 giây.</a:t>
            </a:r>
          </a:p>
          <a:p>
            <a:r>
              <a:t>Gợi ý nói: Minh họa một trang PDF: chọn trang và chuẩn hóa ảnh; sau OCR người học so ảnh gốc với đoạn văn bản, sửa và xác nhận trước khi tạo câu hỏi.</a:t>
            </a:r>
          </a:p>
          <a:p>
            <a:r>
              <a:t>Nguồn đối chiếu: Báo cáo cuối kỳ, trang PDF 45–49; Hình 3.4 và 3.5.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mục tiêu: 90 giây.</a:t>
            </a:r>
          </a:p>
          <a:p>
            <a:r>
              <a:t>Gợi ý nói: Nói rõ Groq tạo bản nháp, không tự động biến thành học liệu đã xác nhận. Mở câu trích và trang nguồn; vùng tô sáng chỉ hiển thị khi liên kết hợp lệ.</a:t>
            </a:r>
          </a:p>
          <a:p>
            <a:r>
              <a:t>Nguồn đối chiếu: Báo cáo cuối kỳ, trang PDF 49–53.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mục tiêu: 90 giây.</a:t>
            </a:r>
          </a:p>
          <a:p>
            <a:r>
              <a:t>Gợi ý nói: Cho xem một thẻ trước/sau khi lật, rồi giải thích bốn mức phản hồi. Minh họa bảng tính lịch 1, 6, 16 ngày trong báo cáo, không diễn giải đó là mức cải thiện trí nhớ đã đo.</a:t>
            </a:r>
          </a:p>
          <a:p>
            <a:r>
              <a:t>Nguồn đối chiếu: Báo cáo cuối kỳ, trang PDF 37–39 và 54.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mục tiêu: 60 giây.</a:t>
            </a:r>
          </a:p>
          <a:p>
            <a:r>
              <a:t>Gợi ý nói: Nhấn ranh giới offline: ôn thẻ đã lưu và thống kê cục bộ vẫn hoạt động; nhắc học dùng thông báo Android và truy vấn lại danh sách khi chạm. Không nói thông báo luôn phát đúng từng phút.</a:t>
            </a:r>
          </a:p>
          <a:p>
            <a:r>
              <a:t>Nguồn đối chiếu: Báo cáo cuối kỳ, trang PDF 39–41 và 54–56.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mục tiêu: 70 giây.</a:t>
            </a:r>
          </a:p>
          <a:p>
            <a:r>
              <a:t>Gợi ý nói: Giới thiệu kho khách và kho tài khoản. Người dùng bấm đồng bộ; nội dung, lịch và media có trạng thái riêng. Báo cáo ghi Firebase/S3 thật đã kết nối, nhưng không lấy mock/emulator làm bằng chứng hội tụ hai điện thoại.</a:t>
            </a:r>
          </a:p>
          <a:p>
            <a:r>
              <a:t>Nguồn đối chiếu: Báo cáo cuối kỳ, trang PDF 57–61 và 64.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mục tiêu: 90 giây.</a:t>
            </a:r>
          </a:p>
          <a:p>
            <a:r>
              <a:t>Gợi ý nói: Nêu các mức kiểm thử mà báo cáo mô tả, không công bố số test pass vì báo cáo không tổng hợp con số. Phân biệt hành vi đã kiểm tra với hiệu quả học tập và chất lượng OCR/AI chưa được đo.</a:t>
            </a:r>
          </a:p>
          <a:p>
            <a:r>
              <a:t>Nguồn đối chiếu: Báo cáo cuối kỳ, trang PDF 62–64.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mục tiêu: 50 giây.</a:t>
            </a:r>
          </a:p>
          <a:p>
            <a:r>
              <a:t>Gợi ý nói: Kết luận theo những chức năng đã hiện thực. Hai hướng tiếp theo là phép đo chất lượng và kiểm chứng đa thiết bị; không mô tả đồng bộ như tính năng chưa triển khai.</a:t>
            </a:r>
          </a:p>
          <a:p>
            <a:r>
              <a:t>Nguồn đối chiếu: Báo cáo cuối kỳ, trang PDF 64–65.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mục tiêu: 10 giây.</a:t>
            </a:r>
          </a:p>
          <a:p>
            <a:r>
              <a:t>Gợi ý nói: Cảm ơn và mời đặt câu hỏi. Video thao tác được nộp bằng đường dẫn riêng, không chiếu trong 15 phút trình bày.</a:t>
            </a:r>
          </a:p>
          <a:p>
            <a:r>
              <a:t>Nguồn đối chiếu: Kế hoạch trình bày của nhóm.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0.jpeg"/><Relationship Id="rId4" Type="http://schemas.openxmlformats.org/officeDocument/2006/relationships/image" Target="../media/image9.jpe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1.jpe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91E26"/>
        </a:solidFill>
        <a:effectLst/>
      </p:bgPr>
    </p:bg>
    <p:spTree>
      <p:nvGrpSpPr>
        <p:cNvPr id="1" name=""/>
        <p:cNvGrpSpPr/>
        <p:nvPr/>
      </p:nvGrpSpPr>
      <p:grpSpPr>
        <a:xfrm>
          <a:off x="0" y="0"/>
          <a:ext cx="0" cy="0"/>
          <a:chOff x="0" y="0"/>
          <a:chExt cx="0" cy="0"/>
        </a:xfrm>
      </p:grpSpPr>
      <p:sp>
        <p:nvSpPr>
          <p:cNvPr id="8" name="brand">
            <a:extLst>
              <a:ext uri="{FF2B5EF4-FFF2-40B4-BE49-F238E27FC236}">
                <a16:creationId xmlns:a16="http://schemas.microsoft.com/office/drawing/2014/main" id="{D24D7F61-A863-45D5-A3AA-BE02C389F8D3}"/>
              </a:ext>
            </a:extLst>
          </p:cNvPr>
          <p:cNvSpPr>
            <a:spLocks noGrp="1"/>
          </p:cNvSpPr>
          <p:nvPr/>
        </p:nvSpPr>
        <p:spPr>
          <a:xfrm>
            <a:off x="6959522" y="1744439"/>
            <a:ext cx="4368955" cy="1000125"/>
          </a:xfrm>
          <a:prstGeom prst="rect">
            <a:avLst/>
          </a:prstGeom>
          <a:noFill/>
          <a:ln w="0">
            <a:noFill/>
          </a:ln>
        </p:spPr>
        <p:txBody>
          <a:bodyPr wrap="square" lIns="0" tIns="0" rIns="0" bIns="0" anchor="ctr">
            <a:noAutofit/>
          </a:bodyPr>
          <a:lstStyle/>
          <a:p>
            <a:pPr algn="l">
              <a:defRPr sz="6000" b="1">
                <a:solidFill>
                  <a:srgbClr val="84E3EA"/>
                </a:solidFill>
                <a:latin typeface="Arial"/>
                <a:ea typeface="Arial"/>
                <a:cs typeface="Arial"/>
              </a:defRPr>
            </a:pPr>
            <a:r>
              <a:rPr sz="6000" b="1">
                <a:solidFill>
                  <a:srgbClr val="84E3EA"/>
                </a:solidFill>
                <a:latin typeface="Arial"/>
                <a:ea typeface="Arial"/>
                <a:cs typeface="Arial"/>
              </a:rPr>
              <a:t>MEMOMIND</a:t>
            </a:r>
          </a:p>
        </p:txBody>
      </p:sp>
      <p:sp>
        <p:nvSpPr>
          <p:cNvPr id="2" name="project-title">
            <a:extLst>
              <a:ext uri="{FF2B5EF4-FFF2-40B4-BE49-F238E27FC236}">
                <a16:creationId xmlns:a16="http://schemas.microsoft.com/office/drawing/2014/main" id="{F9542180-E7B3-40F8-A6D2-B177E3A576E4}"/>
              </a:ext>
            </a:extLst>
          </p:cNvPr>
          <p:cNvSpPr>
            <a:spLocks noGrp="1"/>
          </p:cNvSpPr>
          <p:nvPr/>
        </p:nvSpPr>
        <p:spPr>
          <a:xfrm>
            <a:off x="3905250" y="2905125"/>
            <a:ext cx="8829443" cy="1857375"/>
          </a:xfrm>
          <a:prstGeom prst="rect">
            <a:avLst/>
          </a:prstGeom>
          <a:noFill/>
          <a:ln w="0">
            <a:noFill/>
          </a:ln>
        </p:spPr>
        <p:txBody>
          <a:bodyPr wrap="square" lIns="0" tIns="0" rIns="0" bIns="0" anchor="ctr">
            <a:noAutofit/>
          </a:bodyPr>
          <a:lstStyle/>
          <a:p>
            <a:pPr algn="l">
              <a:defRPr sz="3900" b="1">
                <a:solidFill>
                  <a:srgbClr val="FFFFFF"/>
                </a:solidFill>
                <a:latin typeface="Arial"/>
                <a:ea typeface="Arial"/>
                <a:cs typeface="Arial"/>
              </a:defRPr>
            </a:pPr>
            <a:r>
              <a:rPr sz="3900" b="1">
                <a:solidFill>
                  <a:srgbClr val="FFFFFF"/>
                </a:solidFill>
                <a:latin typeface="Arial"/>
                <a:ea typeface="Arial"/>
                <a:cs typeface="Arial"/>
              </a:rPr>
              <a:t>Xây dựng ứng dụng số hóa bài giảng</a:t>
            </a:r>
          </a:p>
          <a:p>
            <a:pPr algn="l">
              <a:defRPr sz="3900" b="1">
                <a:solidFill>
                  <a:srgbClr val="FFFFFF"/>
                </a:solidFill>
                <a:latin typeface="Arial"/>
                <a:ea typeface="Arial"/>
                <a:cs typeface="Arial"/>
              </a:defRPr>
            </a:pPr>
            <a:r>
              <a:rPr sz="3900" b="1">
                <a:solidFill>
                  <a:srgbClr val="FFFFFF"/>
                </a:solidFill>
                <a:latin typeface="Arial"/>
                <a:ea typeface="Arial"/>
                <a:cs typeface="Arial"/>
              </a:rPr>
              <a:t>và ôn tập ngắt quãng thông minh</a:t>
            </a:r>
          </a:p>
        </p:txBody>
      </p:sp>
      <p:sp>
        <p:nvSpPr>
          <p:cNvPr id="3" name="course">
            <a:extLst>
              <a:ext uri="{FF2B5EF4-FFF2-40B4-BE49-F238E27FC236}">
                <a16:creationId xmlns:a16="http://schemas.microsoft.com/office/drawing/2014/main" id="{9026433F-E390-48FD-A9F9-EE0233DEDC10}"/>
              </a:ext>
            </a:extLst>
          </p:cNvPr>
          <p:cNvSpPr>
            <a:spLocks noGrp="1"/>
          </p:cNvSpPr>
          <p:nvPr/>
        </p:nvSpPr>
        <p:spPr>
          <a:xfrm>
            <a:off x="3905250" y="5095875"/>
            <a:ext cx="10287000" cy="571500"/>
          </a:xfrm>
          <a:prstGeom prst="rect">
            <a:avLst/>
          </a:prstGeom>
          <a:noFill/>
          <a:ln w="0">
            <a:noFill/>
          </a:ln>
        </p:spPr>
        <p:txBody>
          <a:bodyPr wrap="square" lIns="0" tIns="0" rIns="0" bIns="0" anchor="ctr">
            <a:noAutofit/>
          </a:bodyPr>
          <a:lstStyle/>
          <a:p>
            <a:pPr algn="l">
              <a:defRPr sz="2475" b="1">
                <a:solidFill>
                  <a:srgbClr val="D5E8EC"/>
                </a:solidFill>
                <a:latin typeface="Arial"/>
                <a:ea typeface="Arial"/>
                <a:cs typeface="Arial"/>
              </a:defRPr>
            </a:pPr>
            <a:r>
              <a:rPr sz="2475" b="1">
                <a:solidFill>
                  <a:srgbClr val="D5E8EC"/>
                </a:solidFill>
                <a:latin typeface="Arial"/>
                <a:ea typeface="Arial"/>
                <a:cs typeface="Arial"/>
              </a:rPr>
              <a:t>LẬP TRÌNH DI ĐỘNG NÂNG CAO</a:t>
            </a:r>
          </a:p>
        </p:txBody>
      </p:sp>
      <p:sp>
        <p:nvSpPr>
          <p:cNvPr id="4" name="members">
            <a:extLst>
              <a:ext uri="{FF2B5EF4-FFF2-40B4-BE49-F238E27FC236}">
                <a16:creationId xmlns:a16="http://schemas.microsoft.com/office/drawing/2014/main" id="{2A1A36C9-9F4D-4D85-B67D-14C9148EC1DC}"/>
              </a:ext>
            </a:extLst>
          </p:cNvPr>
          <p:cNvSpPr>
            <a:spLocks noGrp="1"/>
          </p:cNvSpPr>
          <p:nvPr/>
        </p:nvSpPr>
        <p:spPr>
          <a:xfrm>
            <a:off x="3905250" y="6191250"/>
            <a:ext cx="10668000" cy="1047750"/>
          </a:xfrm>
          <a:prstGeom prst="rect">
            <a:avLst/>
          </a:prstGeom>
          <a:noFill/>
          <a:ln w="0">
            <a:noFill/>
          </a:ln>
        </p:spPr>
        <p:txBody>
          <a:bodyPr wrap="square" lIns="0" tIns="0" rIns="0" bIns="0" anchor="ctr">
            <a:noAutofit/>
          </a:bodyPr>
          <a:lstStyle/>
          <a:p>
            <a:pPr algn="l">
              <a:defRPr sz="2250" b="0">
                <a:solidFill>
                  <a:srgbClr val="FFFFFF"/>
                </a:solidFill>
                <a:latin typeface="Arial"/>
                <a:ea typeface="Arial"/>
                <a:cs typeface="Arial"/>
              </a:defRPr>
            </a:pPr>
            <a:r>
              <a:rPr sz="2250" b="0">
                <a:solidFill>
                  <a:srgbClr val="FFFFFF"/>
                </a:solidFill>
                <a:latin typeface="Arial"/>
                <a:ea typeface="Arial"/>
                <a:cs typeface="Arial"/>
              </a:rPr>
              <a:t>Nhóm 9    </a:t>
            </a:r>
            <a:endParaRPr lang="en-US" sz="2250" b="0">
              <a:solidFill>
                <a:srgbClr val="FFFFFF"/>
              </a:solidFill>
              <a:latin typeface="Arial"/>
              <a:ea typeface="Arial"/>
              <a:cs typeface="Arial"/>
            </a:endParaRPr>
          </a:p>
          <a:p>
            <a:pPr algn="l">
              <a:defRPr sz="2250" b="0">
                <a:solidFill>
                  <a:srgbClr val="FFFFFF"/>
                </a:solidFill>
                <a:latin typeface="Arial"/>
                <a:ea typeface="Arial"/>
                <a:cs typeface="Arial"/>
              </a:defRPr>
            </a:pPr>
            <a:r>
              <a:rPr sz="2250" b="0">
                <a:solidFill>
                  <a:srgbClr val="FFFFFF"/>
                </a:solidFill>
                <a:latin typeface="Arial"/>
                <a:ea typeface="Arial"/>
                <a:cs typeface="Arial"/>
              </a:rPr>
              <a:t>Nguyễn Thái Bảo (23110078)</a:t>
            </a:r>
          </a:p>
          <a:p>
            <a:pPr algn="l">
              <a:defRPr sz="2250" b="0">
                <a:solidFill>
                  <a:srgbClr val="FFFFFF"/>
                </a:solidFill>
                <a:latin typeface="Arial"/>
                <a:ea typeface="Arial"/>
                <a:cs typeface="Arial"/>
              </a:defRPr>
            </a:pPr>
            <a:r>
              <a:rPr sz="2250" b="0">
                <a:solidFill>
                  <a:srgbClr val="FFFFFF"/>
                </a:solidFill>
                <a:latin typeface="Arial"/>
                <a:ea typeface="Arial"/>
                <a:cs typeface="Arial"/>
              </a:rPr>
              <a:t>Lê Quang Hưng (23110110)</a:t>
            </a:r>
            <a:endParaRPr lang="en-US" sz="2250" b="0">
              <a:solidFill>
                <a:srgbClr val="FFFFFF"/>
              </a:solidFill>
              <a:latin typeface="Arial"/>
              <a:ea typeface="Arial"/>
              <a:cs typeface="Arial"/>
            </a:endParaRPr>
          </a:p>
          <a:p>
            <a:pPr algn="l">
              <a:defRPr sz="2250" b="0">
                <a:solidFill>
                  <a:srgbClr val="FFFFFF"/>
                </a:solidFill>
                <a:latin typeface="Arial"/>
                <a:ea typeface="Arial"/>
                <a:cs typeface="Arial"/>
              </a:defRPr>
            </a:pPr>
            <a:r>
              <a:rPr sz="2250" b="0">
                <a:solidFill>
                  <a:srgbClr val="FFFFFF"/>
                </a:solidFill>
                <a:latin typeface="Arial"/>
                <a:ea typeface="Arial"/>
                <a:cs typeface="Arial"/>
              </a:rPr>
              <a:t>Đặng Lê Nguyên Hùng (23110107)</a:t>
            </a:r>
          </a:p>
        </p:txBody>
      </p:sp>
      <p:sp>
        <p:nvSpPr>
          <p:cNvPr id="5" name="advisor">
            <a:extLst>
              <a:ext uri="{FF2B5EF4-FFF2-40B4-BE49-F238E27FC236}">
                <a16:creationId xmlns:a16="http://schemas.microsoft.com/office/drawing/2014/main" id="{E55A0200-6674-4127-99F8-1C79C64734BB}"/>
              </a:ext>
            </a:extLst>
          </p:cNvPr>
          <p:cNvSpPr>
            <a:spLocks noGrp="1"/>
          </p:cNvSpPr>
          <p:nvPr/>
        </p:nvSpPr>
        <p:spPr>
          <a:xfrm>
            <a:off x="3905250" y="7810500"/>
            <a:ext cx="10477500" cy="523875"/>
          </a:xfrm>
          <a:prstGeom prst="rect">
            <a:avLst/>
          </a:prstGeom>
          <a:noFill/>
          <a:ln w="0">
            <a:noFill/>
          </a:ln>
        </p:spPr>
        <p:txBody>
          <a:bodyPr wrap="square" lIns="0" tIns="0" rIns="0" bIns="0" anchor="ctr">
            <a:noAutofit/>
          </a:bodyPr>
          <a:lstStyle/>
          <a:p>
            <a:pPr algn="l">
              <a:defRPr sz="2250" b="0">
                <a:solidFill>
                  <a:srgbClr val="D5E8EC"/>
                </a:solidFill>
                <a:latin typeface="Arial"/>
                <a:ea typeface="Arial"/>
                <a:cs typeface="Arial"/>
              </a:defRPr>
            </a:pPr>
            <a:r>
              <a:rPr sz="2250" b="0">
                <a:solidFill>
                  <a:srgbClr val="D5E8EC"/>
                </a:solidFill>
                <a:latin typeface="Arial"/>
                <a:ea typeface="Arial"/>
                <a:cs typeface="Arial"/>
              </a:rPr>
              <a:t>GVHD: ThS. Hoàng Công Trình</a:t>
            </a:r>
          </a:p>
        </p:txBody>
      </p:sp>
      <p:pic>
        <p:nvPicPr>
          <p:cNvPr id="13" name="Picture 12"/>
          <p:cNvPicPr>
            <a:picLocks noChangeAspect="1"/>
          </p:cNvPicPr>
          <p:nvPr/>
        </p:nvPicPr>
        <p:blipFill>
          <a:blip r:embed="rId3"/>
          <a:stretch/>
        </p:blipFill>
        <p:spPr>
          <a:xfrm>
            <a:off x="929965" y="784745"/>
            <a:ext cx="2000250" cy="2587823"/>
          </a:xfrm>
          <a:prstGeom prst="rect">
            <a:avLst/>
          </a:prstGeom>
        </p:spPr>
      </p:pic>
      <p:pic>
        <p:nvPicPr>
          <p:cNvPr id="14" name="Picture 13"/>
          <p:cNvPicPr>
            <a:picLocks noChangeAspect="1"/>
          </p:cNvPicPr>
          <p:nvPr/>
        </p:nvPicPr>
        <p:blipFill>
          <a:blip r:embed="rId4"/>
          <a:stretch/>
        </p:blipFill>
        <p:spPr>
          <a:xfrm>
            <a:off x="13964114" y="1172939"/>
            <a:ext cx="3790021" cy="8417372"/>
          </a:xfrm>
          <a:prstGeom prst="rect">
            <a:avLst/>
          </a:prstGeom>
        </p:spPr>
      </p:pic>
    </p:spTree>
    <p:extLst>
      <p:ext uri="{BB962C8B-B14F-4D97-AF65-F5344CB8AC3E}">
        <p14:creationId xmlns:p14="http://schemas.microsoft.com/office/powerpoint/2010/main" val="8013615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9FA"/>
        </a:solidFill>
        <a:effectLst/>
      </p:bgPr>
    </p:bg>
    <p:spTree>
      <p:nvGrpSpPr>
        <p:cNvPr id="1" name=""/>
        <p:cNvGrpSpPr/>
        <p:nvPr/>
      </p:nvGrpSpPr>
      <p:grpSpPr>
        <a:xfrm>
          <a:off x="0" y="0"/>
          <a:ext cx="0" cy="0"/>
          <a:chOff x="0" y="0"/>
          <a:chExt cx="0" cy="0"/>
        </a:xfrm>
      </p:grpSpPr>
      <p:sp>
        <p:nvSpPr>
          <p:cNvPr id="13" name="slide-number">
            <a:extLst>
              <a:ext uri="{FF2B5EF4-FFF2-40B4-BE49-F238E27FC236}">
                <a16:creationId xmlns:a16="http://schemas.microsoft.com/office/drawing/2014/main" id="{1C2350C3-3F48-4F2A-8874-7F67E7F6A311}"/>
              </a:ext>
            </a:extLst>
          </p:cNvPr>
          <p:cNvSpPr>
            <a:spLocks noGrp="1"/>
          </p:cNvSpPr>
          <p:nvPr/>
        </p:nvSpPr>
        <p:spPr>
          <a:xfrm>
            <a:off x="1238250" y="495300"/>
            <a:ext cx="952500" cy="457200"/>
          </a:xfrm>
          <a:prstGeom prst="rect">
            <a:avLst/>
          </a:prstGeom>
          <a:noFill/>
          <a:ln w="0">
            <a:noFill/>
          </a:ln>
        </p:spPr>
        <p:txBody>
          <a:bodyPr wrap="square" lIns="0" tIns="0" rIns="0" bIns="0" anchor="ctr">
            <a:noAutofit/>
          </a:bodyPr>
          <a:lstStyle/>
          <a:p>
            <a:pPr algn="l">
              <a:defRPr sz="2025" b="1">
                <a:solidFill>
                  <a:srgbClr val="5A4AE7"/>
                </a:solidFill>
                <a:latin typeface="Arial"/>
                <a:ea typeface="Arial"/>
                <a:cs typeface="Arial"/>
              </a:defRPr>
            </a:pPr>
            <a:r>
              <a:rPr sz="2025" b="1">
                <a:solidFill>
                  <a:srgbClr val="5A4AE7"/>
                </a:solidFill>
                <a:latin typeface="Arial"/>
                <a:ea typeface="Arial"/>
                <a:cs typeface="Arial"/>
              </a:rPr>
              <a:t>02</a:t>
            </a:r>
          </a:p>
        </p:txBody>
      </p:sp>
      <p:sp>
        <p:nvSpPr>
          <p:cNvPr id="2" name="title">
            <a:extLst>
              <a:ext uri="{FF2B5EF4-FFF2-40B4-BE49-F238E27FC236}">
                <a16:creationId xmlns:a16="http://schemas.microsoft.com/office/drawing/2014/main" id="{E408CDB8-0328-426D-A058-007DFD7D48F4}"/>
              </a:ext>
            </a:extLst>
          </p:cNvPr>
          <p:cNvSpPr>
            <a:spLocks noGrp="1"/>
          </p:cNvSpPr>
          <p:nvPr/>
        </p:nvSpPr>
        <p:spPr>
          <a:xfrm>
            <a:off x="1238250" y="990600"/>
            <a:ext cx="15716250" cy="990600"/>
          </a:xfrm>
          <a:prstGeom prst="rect">
            <a:avLst/>
          </a:prstGeom>
          <a:noFill/>
          <a:ln w="0">
            <a:noFill/>
          </a:ln>
        </p:spPr>
        <p:txBody>
          <a:bodyPr wrap="square" lIns="0" tIns="0" rIns="0" bIns="0" anchor="ctr">
            <a:noAutofit/>
          </a:bodyPr>
          <a:lstStyle/>
          <a:p>
            <a:pPr algn="l">
              <a:defRPr sz="4425" b="1">
                <a:solidFill>
                  <a:srgbClr val="142931"/>
                </a:solidFill>
                <a:latin typeface="Arial"/>
                <a:ea typeface="Arial"/>
                <a:cs typeface="Arial"/>
              </a:defRPr>
            </a:pPr>
            <a:r>
              <a:rPr sz="4425" b="1">
                <a:solidFill>
                  <a:srgbClr val="142931"/>
                </a:solidFill>
                <a:latin typeface="Arial"/>
                <a:ea typeface="Arial"/>
                <a:cs typeface="Arial"/>
              </a:rPr>
              <a:t>Tài liệu có sẵn, nhưng chưa thành lịch ôn</a:t>
            </a:r>
          </a:p>
        </p:txBody>
      </p:sp>
      <p:sp>
        <p:nvSpPr>
          <p:cNvPr id="3" name="number-0">
            <a:extLst>
              <a:ext uri="{FF2B5EF4-FFF2-40B4-BE49-F238E27FC236}">
                <a16:creationId xmlns:a16="http://schemas.microsoft.com/office/drawing/2014/main" id="{C03C0383-C5BA-42E3-8A99-6B1DACCC629A}"/>
              </a:ext>
            </a:extLst>
          </p:cNvPr>
          <p:cNvSpPr>
            <a:spLocks noGrp="1"/>
          </p:cNvSpPr>
          <p:nvPr/>
        </p:nvSpPr>
        <p:spPr>
          <a:xfrm>
            <a:off x="1333500" y="3000375"/>
            <a:ext cx="1714500" cy="714375"/>
          </a:xfrm>
          <a:prstGeom prst="rect">
            <a:avLst/>
          </a:prstGeom>
          <a:noFill/>
          <a:ln w="0">
            <a:noFill/>
          </a:ln>
        </p:spPr>
        <p:txBody>
          <a:bodyPr wrap="square" lIns="0" tIns="0" rIns="0" bIns="0" anchor="ctr">
            <a:noAutofit/>
          </a:bodyPr>
          <a:lstStyle/>
          <a:p>
            <a:pPr algn="l">
              <a:defRPr sz="4500" b="1">
                <a:solidFill>
                  <a:srgbClr val="5A4AE7"/>
                </a:solidFill>
                <a:latin typeface="Arial"/>
                <a:ea typeface="Arial"/>
                <a:cs typeface="Arial"/>
              </a:defRPr>
            </a:pPr>
            <a:r>
              <a:rPr sz="4500" b="1">
                <a:solidFill>
                  <a:srgbClr val="5A4AE7"/>
                </a:solidFill>
                <a:latin typeface="Arial"/>
                <a:ea typeface="Arial"/>
                <a:cs typeface="Arial"/>
              </a:rPr>
              <a:t>01</a:t>
            </a:r>
          </a:p>
        </p:txBody>
      </p:sp>
      <p:sp>
        <p:nvSpPr>
          <p:cNvPr id="4" name="problem-0">
            <a:extLst>
              <a:ext uri="{FF2B5EF4-FFF2-40B4-BE49-F238E27FC236}">
                <a16:creationId xmlns:a16="http://schemas.microsoft.com/office/drawing/2014/main" id="{6937A6EC-93C7-4E44-886F-9FB2467D84AE}"/>
              </a:ext>
            </a:extLst>
          </p:cNvPr>
          <p:cNvSpPr>
            <a:spLocks noGrp="1"/>
          </p:cNvSpPr>
          <p:nvPr/>
        </p:nvSpPr>
        <p:spPr>
          <a:xfrm>
            <a:off x="1333500" y="4000500"/>
            <a:ext cx="4857750" cy="809625"/>
          </a:xfrm>
          <a:prstGeom prst="rect">
            <a:avLst/>
          </a:prstGeom>
          <a:noFill/>
          <a:ln w="0">
            <a:noFill/>
          </a:ln>
        </p:spPr>
        <p:txBody>
          <a:bodyPr wrap="square" lIns="0" tIns="0" rIns="0" bIns="0" anchor="ctr">
            <a:noAutofit/>
          </a:bodyPr>
          <a:lstStyle/>
          <a:p>
            <a:pPr algn="l">
              <a:defRPr sz="3000" b="1">
                <a:solidFill>
                  <a:srgbClr val="142931"/>
                </a:solidFill>
                <a:latin typeface="Arial"/>
                <a:ea typeface="Arial"/>
                <a:cs typeface="Arial"/>
              </a:defRPr>
            </a:pPr>
            <a:r>
              <a:rPr sz="3000" b="1">
                <a:solidFill>
                  <a:srgbClr val="142931"/>
                </a:solidFill>
                <a:latin typeface="Arial"/>
                <a:ea typeface="Arial"/>
                <a:cs typeface="Arial"/>
              </a:rPr>
              <a:t>Ảnh và PDF rời rạc</a:t>
            </a:r>
          </a:p>
        </p:txBody>
      </p:sp>
      <p:sp>
        <p:nvSpPr>
          <p:cNvPr id="5" name="detail-0">
            <a:extLst>
              <a:ext uri="{FF2B5EF4-FFF2-40B4-BE49-F238E27FC236}">
                <a16:creationId xmlns:a16="http://schemas.microsoft.com/office/drawing/2014/main" id="{D5CB578E-F9A0-4A2F-BC15-E56B3FEC8710}"/>
              </a:ext>
            </a:extLst>
          </p:cNvPr>
          <p:cNvSpPr>
            <a:spLocks noGrp="1"/>
          </p:cNvSpPr>
          <p:nvPr/>
        </p:nvSpPr>
        <p:spPr>
          <a:xfrm>
            <a:off x="1333500" y="5000625"/>
            <a:ext cx="4762500" cy="1524000"/>
          </a:xfrm>
          <a:prstGeom prst="rect">
            <a:avLst/>
          </a:prstGeom>
          <a:noFill/>
          <a:ln w="0">
            <a:noFill/>
          </a:ln>
        </p:spPr>
        <p:txBody>
          <a:bodyPr wrap="square" lIns="0" tIns="0" rIns="0" bIns="0" anchor="ctr">
            <a:noAutofit/>
          </a:bodyPr>
          <a:lstStyle/>
          <a:p>
            <a:pPr algn="l">
              <a:defRPr sz="2250" b="0">
                <a:solidFill>
                  <a:srgbClr val="62747A"/>
                </a:solidFill>
                <a:latin typeface="Arial"/>
                <a:ea typeface="Arial"/>
                <a:cs typeface="Arial"/>
              </a:defRPr>
            </a:pPr>
            <a:r>
              <a:rPr sz="2250" b="0">
                <a:solidFill>
                  <a:srgbClr val="62747A"/>
                </a:solidFill>
                <a:latin typeface="Arial"/>
                <a:ea typeface="Arial"/>
                <a:cs typeface="Arial"/>
              </a:rPr>
              <a:t>Tài liệu được lưu ở nhiều nơi,</a:t>
            </a:r>
          </a:p>
          <a:p>
            <a:pPr algn="l">
              <a:defRPr sz="2250" b="0">
                <a:solidFill>
                  <a:srgbClr val="62747A"/>
                </a:solidFill>
                <a:latin typeface="Arial"/>
                <a:ea typeface="Arial"/>
                <a:cs typeface="Arial"/>
              </a:defRPr>
            </a:pPr>
            <a:r>
              <a:rPr sz="2250" b="0">
                <a:solidFill>
                  <a:srgbClr val="62747A"/>
                </a:solidFill>
                <a:latin typeface="Arial"/>
                <a:ea typeface="Arial"/>
                <a:cs typeface="Arial"/>
              </a:rPr>
              <a:t>khó tìm lại đúng phần cần học.</a:t>
            </a:r>
          </a:p>
        </p:txBody>
      </p:sp>
      <p:sp>
        <p:nvSpPr>
          <p:cNvPr id="6" name="number-1">
            <a:extLst>
              <a:ext uri="{FF2B5EF4-FFF2-40B4-BE49-F238E27FC236}">
                <a16:creationId xmlns:a16="http://schemas.microsoft.com/office/drawing/2014/main" id="{CDDBC10A-2EAE-4E4B-A444-C0B2B2DDDC2C}"/>
              </a:ext>
            </a:extLst>
          </p:cNvPr>
          <p:cNvSpPr>
            <a:spLocks noGrp="1"/>
          </p:cNvSpPr>
          <p:nvPr/>
        </p:nvSpPr>
        <p:spPr>
          <a:xfrm>
            <a:off x="7048500" y="3000375"/>
            <a:ext cx="1714500" cy="714375"/>
          </a:xfrm>
          <a:prstGeom prst="rect">
            <a:avLst/>
          </a:prstGeom>
          <a:noFill/>
          <a:ln w="0">
            <a:noFill/>
          </a:ln>
        </p:spPr>
        <p:txBody>
          <a:bodyPr wrap="square" lIns="0" tIns="0" rIns="0" bIns="0" anchor="ctr">
            <a:noAutofit/>
          </a:bodyPr>
          <a:lstStyle/>
          <a:p>
            <a:pPr algn="l">
              <a:defRPr sz="4500" b="1">
                <a:solidFill>
                  <a:srgbClr val="5A4AE7"/>
                </a:solidFill>
                <a:latin typeface="Arial"/>
                <a:ea typeface="Arial"/>
                <a:cs typeface="Arial"/>
              </a:defRPr>
            </a:pPr>
            <a:r>
              <a:rPr sz="4500" b="1">
                <a:solidFill>
                  <a:srgbClr val="5A4AE7"/>
                </a:solidFill>
                <a:latin typeface="Arial"/>
                <a:ea typeface="Arial"/>
                <a:cs typeface="Arial"/>
              </a:rPr>
              <a:t>02</a:t>
            </a:r>
          </a:p>
        </p:txBody>
      </p:sp>
      <p:sp>
        <p:nvSpPr>
          <p:cNvPr id="7" name="problem-1">
            <a:extLst>
              <a:ext uri="{FF2B5EF4-FFF2-40B4-BE49-F238E27FC236}">
                <a16:creationId xmlns:a16="http://schemas.microsoft.com/office/drawing/2014/main" id="{2F400BC8-EBB2-4CF4-B0DA-2FDF724AA433}"/>
              </a:ext>
            </a:extLst>
          </p:cNvPr>
          <p:cNvSpPr>
            <a:spLocks noGrp="1"/>
          </p:cNvSpPr>
          <p:nvPr/>
        </p:nvSpPr>
        <p:spPr>
          <a:xfrm>
            <a:off x="7048500" y="4000500"/>
            <a:ext cx="4857750" cy="809625"/>
          </a:xfrm>
          <a:prstGeom prst="rect">
            <a:avLst/>
          </a:prstGeom>
          <a:noFill/>
          <a:ln w="0">
            <a:noFill/>
          </a:ln>
        </p:spPr>
        <p:txBody>
          <a:bodyPr wrap="square" lIns="0" tIns="0" rIns="0" bIns="0" anchor="ctr">
            <a:noAutofit/>
          </a:bodyPr>
          <a:lstStyle/>
          <a:p>
            <a:pPr algn="l">
              <a:defRPr sz="3000" b="1">
                <a:solidFill>
                  <a:srgbClr val="142931"/>
                </a:solidFill>
                <a:latin typeface="Arial"/>
                <a:ea typeface="Arial"/>
                <a:cs typeface="Arial"/>
              </a:defRPr>
            </a:pPr>
            <a:r>
              <a:rPr sz="3000" b="1">
                <a:solidFill>
                  <a:srgbClr val="142931"/>
                </a:solidFill>
                <a:latin typeface="Arial"/>
                <a:ea typeface="Arial"/>
                <a:cs typeface="Arial"/>
              </a:rPr>
              <a:t>Tự soạn câu hỏi tốn thời gian</a:t>
            </a:r>
          </a:p>
        </p:txBody>
      </p:sp>
      <p:sp>
        <p:nvSpPr>
          <p:cNvPr id="8" name="detail-1">
            <a:extLst>
              <a:ext uri="{FF2B5EF4-FFF2-40B4-BE49-F238E27FC236}">
                <a16:creationId xmlns:a16="http://schemas.microsoft.com/office/drawing/2014/main" id="{2259BC45-B83E-4BCA-83D4-05F3A3310BD9}"/>
              </a:ext>
            </a:extLst>
          </p:cNvPr>
          <p:cNvSpPr>
            <a:spLocks noGrp="1"/>
          </p:cNvSpPr>
          <p:nvPr/>
        </p:nvSpPr>
        <p:spPr>
          <a:xfrm>
            <a:off x="7048500" y="5000625"/>
            <a:ext cx="4762500" cy="1524000"/>
          </a:xfrm>
          <a:prstGeom prst="rect">
            <a:avLst/>
          </a:prstGeom>
          <a:noFill/>
          <a:ln w="0">
            <a:noFill/>
          </a:ln>
        </p:spPr>
        <p:txBody>
          <a:bodyPr wrap="square" lIns="0" tIns="0" rIns="0" bIns="0" anchor="ctr">
            <a:noAutofit/>
          </a:bodyPr>
          <a:lstStyle/>
          <a:p>
            <a:pPr algn="l">
              <a:defRPr sz="2250" b="0">
                <a:solidFill>
                  <a:srgbClr val="62747A"/>
                </a:solidFill>
                <a:latin typeface="Arial"/>
                <a:ea typeface="Arial"/>
                <a:cs typeface="Arial"/>
              </a:defRPr>
            </a:pPr>
            <a:r>
              <a:rPr sz="2250" b="0">
                <a:solidFill>
                  <a:srgbClr val="62747A"/>
                </a:solidFill>
                <a:latin typeface="Arial"/>
                <a:ea typeface="Arial"/>
                <a:cs typeface="Arial"/>
              </a:rPr>
              <a:t>Người học phải đọc lại,</a:t>
            </a:r>
          </a:p>
          <a:p>
            <a:pPr algn="l">
              <a:defRPr sz="2250" b="0">
                <a:solidFill>
                  <a:srgbClr val="62747A"/>
                </a:solidFill>
                <a:latin typeface="Arial"/>
                <a:ea typeface="Arial"/>
                <a:cs typeface="Arial"/>
              </a:defRPr>
            </a:pPr>
            <a:r>
              <a:rPr sz="2250" b="0">
                <a:solidFill>
                  <a:srgbClr val="62747A"/>
                </a:solidFill>
                <a:latin typeface="Arial"/>
                <a:ea typeface="Arial"/>
                <a:cs typeface="Arial"/>
              </a:rPr>
              <a:t>chọn ý và nhập câu hỏi.</a:t>
            </a:r>
          </a:p>
        </p:txBody>
      </p:sp>
      <p:sp>
        <p:nvSpPr>
          <p:cNvPr id="9" name="number-2">
            <a:extLst>
              <a:ext uri="{FF2B5EF4-FFF2-40B4-BE49-F238E27FC236}">
                <a16:creationId xmlns:a16="http://schemas.microsoft.com/office/drawing/2014/main" id="{0D685E6A-F867-490C-BF85-942915DE56A1}"/>
              </a:ext>
            </a:extLst>
          </p:cNvPr>
          <p:cNvSpPr>
            <a:spLocks noGrp="1"/>
          </p:cNvSpPr>
          <p:nvPr/>
        </p:nvSpPr>
        <p:spPr>
          <a:xfrm>
            <a:off x="12668250" y="3000375"/>
            <a:ext cx="1714500" cy="714375"/>
          </a:xfrm>
          <a:prstGeom prst="rect">
            <a:avLst/>
          </a:prstGeom>
          <a:noFill/>
          <a:ln w="0">
            <a:noFill/>
          </a:ln>
        </p:spPr>
        <p:txBody>
          <a:bodyPr wrap="square" lIns="0" tIns="0" rIns="0" bIns="0" anchor="ctr">
            <a:noAutofit/>
          </a:bodyPr>
          <a:lstStyle/>
          <a:p>
            <a:pPr algn="l">
              <a:defRPr sz="4500" b="1">
                <a:solidFill>
                  <a:srgbClr val="5A4AE7"/>
                </a:solidFill>
                <a:latin typeface="Arial"/>
                <a:ea typeface="Arial"/>
                <a:cs typeface="Arial"/>
              </a:defRPr>
            </a:pPr>
            <a:r>
              <a:rPr sz="4500" b="1">
                <a:solidFill>
                  <a:srgbClr val="5A4AE7"/>
                </a:solidFill>
                <a:latin typeface="Arial"/>
                <a:ea typeface="Arial"/>
                <a:cs typeface="Arial"/>
              </a:rPr>
              <a:t>03</a:t>
            </a:r>
          </a:p>
        </p:txBody>
      </p:sp>
      <p:sp>
        <p:nvSpPr>
          <p:cNvPr id="10" name="problem-2">
            <a:extLst>
              <a:ext uri="{FF2B5EF4-FFF2-40B4-BE49-F238E27FC236}">
                <a16:creationId xmlns:a16="http://schemas.microsoft.com/office/drawing/2014/main" id="{E729689B-6185-4406-8F34-B7BA44B2C92D}"/>
              </a:ext>
            </a:extLst>
          </p:cNvPr>
          <p:cNvSpPr>
            <a:spLocks noGrp="1"/>
          </p:cNvSpPr>
          <p:nvPr/>
        </p:nvSpPr>
        <p:spPr>
          <a:xfrm>
            <a:off x="12668250" y="4000500"/>
            <a:ext cx="4857750" cy="809625"/>
          </a:xfrm>
          <a:prstGeom prst="rect">
            <a:avLst/>
          </a:prstGeom>
          <a:noFill/>
          <a:ln w="0">
            <a:noFill/>
          </a:ln>
        </p:spPr>
        <p:txBody>
          <a:bodyPr wrap="square" lIns="0" tIns="0" rIns="0" bIns="0" anchor="ctr">
            <a:noAutofit/>
          </a:bodyPr>
          <a:lstStyle/>
          <a:p>
            <a:pPr algn="l">
              <a:defRPr sz="3000" b="1">
                <a:solidFill>
                  <a:srgbClr val="142931"/>
                </a:solidFill>
                <a:latin typeface="Arial"/>
                <a:ea typeface="Arial"/>
                <a:cs typeface="Arial"/>
              </a:defRPr>
            </a:pPr>
            <a:r>
              <a:rPr sz="3000" b="1">
                <a:solidFill>
                  <a:srgbClr val="142931"/>
                </a:solidFill>
                <a:latin typeface="Arial"/>
                <a:ea typeface="Arial"/>
                <a:cs typeface="Arial"/>
              </a:rPr>
              <a:t>Ôn tập thiếu nhịp</a:t>
            </a:r>
          </a:p>
        </p:txBody>
      </p:sp>
      <p:sp>
        <p:nvSpPr>
          <p:cNvPr id="11" name="detail-2">
            <a:extLst>
              <a:ext uri="{FF2B5EF4-FFF2-40B4-BE49-F238E27FC236}">
                <a16:creationId xmlns:a16="http://schemas.microsoft.com/office/drawing/2014/main" id="{E02C114A-9A08-445F-B98A-8166EDE2D1FF}"/>
              </a:ext>
            </a:extLst>
          </p:cNvPr>
          <p:cNvSpPr>
            <a:spLocks noGrp="1"/>
          </p:cNvSpPr>
          <p:nvPr/>
        </p:nvSpPr>
        <p:spPr>
          <a:xfrm>
            <a:off x="12668250" y="5000625"/>
            <a:ext cx="4762500" cy="1524000"/>
          </a:xfrm>
          <a:prstGeom prst="rect">
            <a:avLst/>
          </a:prstGeom>
          <a:noFill/>
          <a:ln w="0">
            <a:noFill/>
          </a:ln>
        </p:spPr>
        <p:txBody>
          <a:bodyPr wrap="square" lIns="0" tIns="0" rIns="0" bIns="0" anchor="ctr">
            <a:noAutofit/>
          </a:bodyPr>
          <a:lstStyle/>
          <a:p>
            <a:pPr algn="l">
              <a:defRPr sz="2250" b="0">
                <a:solidFill>
                  <a:srgbClr val="62747A"/>
                </a:solidFill>
                <a:latin typeface="Arial"/>
                <a:ea typeface="Arial"/>
                <a:cs typeface="Arial"/>
              </a:defRPr>
            </a:pPr>
            <a:r>
              <a:rPr sz="2250" b="0">
                <a:solidFill>
                  <a:srgbClr val="62747A"/>
                </a:solidFill>
                <a:latin typeface="Arial"/>
                <a:ea typeface="Arial"/>
                <a:cs typeface="Arial"/>
              </a:rPr>
              <a:t>Khó quyết định khi nào cần</a:t>
            </a:r>
          </a:p>
          <a:p>
            <a:pPr algn="l">
              <a:defRPr sz="2250" b="0">
                <a:solidFill>
                  <a:srgbClr val="62747A"/>
                </a:solidFill>
                <a:latin typeface="Arial"/>
                <a:ea typeface="Arial"/>
                <a:cs typeface="Arial"/>
              </a:defRPr>
            </a:pPr>
            <a:r>
              <a:rPr sz="2250" b="0">
                <a:solidFill>
                  <a:srgbClr val="62747A"/>
                </a:solidFill>
                <a:latin typeface="Arial"/>
                <a:ea typeface="Arial"/>
                <a:cs typeface="Arial"/>
              </a:rPr>
              <a:t>quay lại một kiến thức.</a:t>
            </a:r>
          </a:p>
        </p:txBody>
      </p:sp>
      <p:sp>
        <p:nvSpPr>
          <p:cNvPr id="12" name="objective">
            <a:extLst>
              <a:ext uri="{FF2B5EF4-FFF2-40B4-BE49-F238E27FC236}">
                <a16:creationId xmlns:a16="http://schemas.microsoft.com/office/drawing/2014/main" id="{B29843C9-2E98-489C-A99D-269D36F521CA}"/>
              </a:ext>
            </a:extLst>
          </p:cNvPr>
          <p:cNvSpPr>
            <a:spLocks noGrp="1"/>
          </p:cNvSpPr>
          <p:nvPr/>
        </p:nvSpPr>
        <p:spPr>
          <a:xfrm>
            <a:off x="1333500" y="7667625"/>
            <a:ext cx="15716250" cy="1047750"/>
          </a:xfrm>
          <a:prstGeom prst="rect">
            <a:avLst/>
          </a:prstGeom>
          <a:noFill/>
          <a:ln w="0">
            <a:noFill/>
          </a:ln>
        </p:spPr>
        <p:txBody>
          <a:bodyPr wrap="square" lIns="0" tIns="0" rIns="0" bIns="0" anchor="ctr">
            <a:noAutofit/>
          </a:bodyPr>
          <a:lstStyle/>
          <a:p>
            <a:pPr algn="l">
              <a:defRPr sz="2925" b="1">
                <a:solidFill>
                  <a:srgbClr val="142931"/>
                </a:solidFill>
                <a:latin typeface="Arial"/>
                <a:ea typeface="Arial"/>
                <a:cs typeface="Arial"/>
              </a:defRPr>
            </a:pPr>
            <a:r>
              <a:rPr sz="2925" b="1">
                <a:solidFill>
                  <a:srgbClr val="142931"/>
                </a:solidFill>
                <a:latin typeface="Arial"/>
                <a:ea typeface="Arial"/>
                <a:cs typeface="Arial"/>
              </a:rPr>
              <a:t>Mục tiêu: tài liệu → học liệu có nguồn → ôn tập thường xuyên</a:t>
            </a:r>
          </a:p>
        </p:txBody>
      </p:sp>
    </p:spTree>
    <p:extLst>
      <p:ext uri="{BB962C8B-B14F-4D97-AF65-F5344CB8AC3E}">
        <p14:creationId xmlns:p14="http://schemas.microsoft.com/office/powerpoint/2010/main" val="21056190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9FA"/>
        </a:solidFill>
        <a:effectLst/>
      </p:bgPr>
    </p:bg>
    <p:spTree>
      <p:nvGrpSpPr>
        <p:cNvPr id="1" name=""/>
        <p:cNvGrpSpPr/>
        <p:nvPr/>
      </p:nvGrpSpPr>
      <p:grpSpPr>
        <a:xfrm>
          <a:off x="0" y="0"/>
          <a:ext cx="0" cy="0"/>
          <a:chOff x="0" y="0"/>
          <a:chExt cx="0" cy="0"/>
        </a:xfrm>
      </p:grpSpPr>
      <p:sp>
        <p:nvSpPr>
          <p:cNvPr id="20" name="slide-number">
            <a:extLst>
              <a:ext uri="{FF2B5EF4-FFF2-40B4-BE49-F238E27FC236}">
                <a16:creationId xmlns:a16="http://schemas.microsoft.com/office/drawing/2014/main" id="{473E5A0D-BC17-4700-A9A8-C2CA62C11374}"/>
              </a:ext>
            </a:extLst>
          </p:cNvPr>
          <p:cNvSpPr>
            <a:spLocks noGrp="1"/>
          </p:cNvSpPr>
          <p:nvPr/>
        </p:nvSpPr>
        <p:spPr>
          <a:xfrm>
            <a:off x="1238250" y="495300"/>
            <a:ext cx="952500" cy="457200"/>
          </a:xfrm>
          <a:prstGeom prst="rect">
            <a:avLst/>
          </a:prstGeom>
          <a:noFill/>
          <a:ln w="0">
            <a:noFill/>
          </a:ln>
        </p:spPr>
        <p:txBody>
          <a:bodyPr wrap="square" lIns="0" tIns="0" rIns="0" bIns="0" anchor="ctr">
            <a:noAutofit/>
          </a:bodyPr>
          <a:lstStyle/>
          <a:p>
            <a:pPr algn="l">
              <a:defRPr sz="2025" b="1">
                <a:solidFill>
                  <a:srgbClr val="5A4AE7"/>
                </a:solidFill>
                <a:latin typeface="Arial"/>
                <a:ea typeface="Arial"/>
                <a:cs typeface="Arial"/>
              </a:defRPr>
            </a:pPr>
            <a:r>
              <a:rPr sz="2025" b="1">
                <a:solidFill>
                  <a:srgbClr val="5A4AE7"/>
                </a:solidFill>
                <a:latin typeface="Arial"/>
                <a:ea typeface="Arial"/>
                <a:cs typeface="Arial"/>
              </a:rPr>
              <a:t>03</a:t>
            </a:r>
          </a:p>
        </p:txBody>
      </p:sp>
      <p:sp>
        <p:nvSpPr>
          <p:cNvPr id="2" name="title">
            <a:extLst>
              <a:ext uri="{FF2B5EF4-FFF2-40B4-BE49-F238E27FC236}">
                <a16:creationId xmlns:a16="http://schemas.microsoft.com/office/drawing/2014/main" id="{43C6DA66-CA42-42C3-95CD-45F8FE0A1438}"/>
              </a:ext>
            </a:extLst>
          </p:cNvPr>
          <p:cNvSpPr>
            <a:spLocks noGrp="1"/>
          </p:cNvSpPr>
          <p:nvPr/>
        </p:nvSpPr>
        <p:spPr>
          <a:xfrm>
            <a:off x="1238250" y="990600"/>
            <a:ext cx="15716250" cy="990600"/>
          </a:xfrm>
          <a:prstGeom prst="rect">
            <a:avLst/>
          </a:prstGeom>
          <a:noFill/>
          <a:ln w="0">
            <a:noFill/>
          </a:ln>
        </p:spPr>
        <p:txBody>
          <a:bodyPr wrap="square" lIns="0" tIns="0" rIns="0" bIns="0" anchor="ctr">
            <a:noAutofit/>
          </a:bodyPr>
          <a:lstStyle/>
          <a:p>
            <a:pPr algn="l">
              <a:defRPr sz="4425" b="1">
                <a:solidFill>
                  <a:srgbClr val="142931"/>
                </a:solidFill>
                <a:latin typeface="Arial"/>
                <a:ea typeface="Arial"/>
                <a:cs typeface="Arial"/>
              </a:defRPr>
            </a:pPr>
            <a:r>
              <a:rPr sz="4425" b="1">
                <a:solidFill>
                  <a:srgbClr val="142931"/>
                </a:solidFill>
                <a:latin typeface="Arial"/>
                <a:ea typeface="Arial"/>
                <a:cs typeface="Arial"/>
              </a:rPr>
              <a:t>Một luồng học tập có hai điểm kiểm soát</a:t>
            </a:r>
          </a:p>
        </p:txBody>
      </p:sp>
      <p:sp>
        <p:nvSpPr>
          <p:cNvPr id="3" name="step-0">
            <a:extLst>
              <a:ext uri="{FF2B5EF4-FFF2-40B4-BE49-F238E27FC236}">
                <a16:creationId xmlns:a16="http://schemas.microsoft.com/office/drawing/2014/main" id="{2353042F-28B9-4520-84AB-9113C2516872}"/>
              </a:ext>
            </a:extLst>
          </p:cNvPr>
          <p:cNvSpPr>
            <a:spLocks noGrp="1"/>
          </p:cNvSpPr>
          <p:nvPr/>
        </p:nvSpPr>
        <p:spPr>
          <a:xfrm>
            <a:off x="1190625" y="2857500"/>
            <a:ext cx="1428750" cy="552450"/>
          </a:xfrm>
          <a:prstGeom prst="rect">
            <a:avLst/>
          </a:prstGeom>
          <a:noFill/>
          <a:ln w="0">
            <a:noFill/>
          </a:ln>
        </p:spPr>
        <p:txBody>
          <a:bodyPr wrap="square" lIns="0" tIns="0" rIns="0" bIns="0" anchor="ctr">
            <a:noAutofit/>
          </a:bodyPr>
          <a:lstStyle/>
          <a:p>
            <a:pPr algn="l">
              <a:defRPr sz="2850" b="1">
                <a:solidFill>
                  <a:srgbClr val="5A4AE7"/>
                </a:solidFill>
                <a:latin typeface="Arial"/>
                <a:ea typeface="Arial"/>
                <a:cs typeface="Arial"/>
              </a:defRPr>
            </a:pPr>
            <a:r>
              <a:rPr sz="2850" b="1">
                <a:solidFill>
                  <a:srgbClr val="5A4AE7"/>
                </a:solidFill>
                <a:latin typeface="Arial"/>
                <a:ea typeface="Arial"/>
                <a:cs typeface="Arial"/>
              </a:rPr>
              <a:t>01</a:t>
            </a:r>
          </a:p>
        </p:txBody>
      </p:sp>
      <p:sp>
        <p:nvSpPr>
          <p:cNvPr id="4" name="stage-0">
            <a:extLst>
              <a:ext uri="{FF2B5EF4-FFF2-40B4-BE49-F238E27FC236}">
                <a16:creationId xmlns:a16="http://schemas.microsoft.com/office/drawing/2014/main" id="{7FB6EC5C-B585-4228-813F-3F5281129985}"/>
              </a:ext>
            </a:extLst>
          </p:cNvPr>
          <p:cNvSpPr>
            <a:spLocks noGrp="1"/>
          </p:cNvSpPr>
          <p:nvPr/>
        </p:nvSpPr>
        <p:spPr>
          <a:xfrm>
            <a:off x="1190625" y="3619500"/>
            <a:ext cx="3333750" cy="762000"/>
          </a:xfrm>
          <a:prstGeom prst="rect">
            <a:avLst/>
          </a:prstGeom>
          <a:noFill/>
          <a:ln w="0">
            <a:noFill/>
          </a:ln>
        </p:spPr>
        <p:txBody>
          <a:bodyPr wrap="square" lIns="0" tIns="0" rIns="0" bIns="0" anchor="ctr">
            <a:noAutofit/>
          </a:bodyPr>
          <a:lstStyle/>
          <a:p>
            <a:pPr algn="l">
              <a:defRPr sz="3150" b="1">
                <a:solidFill>
                  <a:srgbClr val="142931"/>
                </a:solidFill>
                <a:latin typeface="Arial"/>
                <a:ea typeface="Arial"/>
                <a:cs typeface="Arial"/>
              </a:defRPr>
            </a:pPr>
            <a:r>
              <a:rPr sz="3150" b="1">
                <a:solidFill>
                  <a:srgbClr val="142931"/>
                </a:solidFill>
                <a:latin typeface="Arial"/>
                <a:ea typeface="Arial"/>
                <a:cs typeface="Arial"/>
              </a:rPr>
              <a:t>Nhập tài liệu</a:t>
            </a:r>
          </a:p>
        </p:txBody>
      </p:sp>
      <p:sp>
        <p:nvSpPr>
          <p:cNvPr id="5" name="stage-detail-0">
            <a:extLst>
              <a:ext uri="{FF2B5EF4-FFF2-40B4-BE49-F238E27FC236}">
                <a16:creationId xmlns:a16="http://schemas.microsoft.com/office/drawing/2014/main" id="{5F8E8426-5E33-4C07-BC42-78DFC957CD95}"/>
              </a:ext>
            </a:extLst>
          </p:cNvPr>
          <p:cNvSpPr>
            <a:spLocks noGrp="1"/>
          </p:cNvSpPr>
          <p:nvPr/>
        </p:nvSpPr>
        <p:spPr>
          <a:xfrm>
            <a:off x="1190625" y="4524375"/>
            <a:ext cx="3333750" cy="666750"/>
          </a:xfrm>
          <a:prstGeom prst="rect">
            <a:avLst/>
          </a:prstGeom>
          <a:noFill/>
          <a:ln w="0">
            <a:noFill/>
          </a:ln>
        </p:spPr>
        <p:txBody>
          <a:bodyPr wrap="square" lIns="0" tIns="0" rIns="0" bIns="0" anchor="ctr">
            <a:noAutofit/>
          </a:bodyPr>
          <a:lstStyle/>
          <a:p>
            <a:pPr algn="l">
              <a:defRPr sz="2325" b="0">
                <a:solidFill>
                  <a:srgbClr val="62747A"/>
                </a:solidFill>
                <a:latin typeface="Arial"/>
                <a:ea typeface="Arial"/>
                <a:cs typeface="Arial"/>
              </a:defRPr>
            </a:pPr>
            <a:r>
              <a:rPr sz="2325" b="0">
                <a:solidFill>
                  <a:srgbClr val="62747A"/>
                </a:solidFill>
                <a:latin typeface="Arial"/>
                <a:ea typeface="Arial"/>
                <a:cs typeface="Arial"/>
              </a:rPr>
              <a:t>Ảnh hoặc PDF</a:t>
            </a:r>
          </a:p>
        </p:txBody>
      </p:sp>
      <p:sp>
        <p:nvSpPr>
          <p:cNvPr id="6" name="arrow-0">
            <a:extLst>
              <a:ext uri="{FF2B5EF4-FFF2-40B4-BE49-F238E27FC236}">
                <a16:creationId xmlns:a16="http://schemas.microsoft.com/office/drawing/2014/main" id="{CCBDE5B2-9369-4888-AE74-532CE557B4F2}"/>
              </a:ext>
            </a:extLst>
          </p:cNvPr>
          <p:cNvSpPr>
            <a:spLocks noGrp="1"/>
          </p:cNvSpPr>
          <p:nvPr/>
        </p:nvSpPr>
        <p:spPr>
          <a:xfrm>
            <a:off x="4524375" y="3790950"/>
            <a:ext cx="714375" cy="714375"/>
          </a:xfrm>
          <a:prstGeom prst="rect">
            <a:avLst/>
          </a:prstGeom>
          <a:noFill/>
          <a:ln w="0">
            <a:noFill/>
          </a:ln>
        </p:spPr>
        <p:txBody>
          <a:bodyPr wrap="square" lIns="0" tIns="0" rIns="0" bIns="0" anchor="ctr">
            <a:noAutofit/>
          </a:bodyPr>
          <a:lstStyle/>
          <a:p>
            <a:pPr algn="ctr">
              <a:defRPr sz="3525" b="1">
                <a:solidFill>
                  <a:srgbClr val="5A4AE7"/>
                </a:solidFill>
                <a:latin typeface="Arial"/>
                <a:ea typeface="Arial"/>
                <a:cs typeface="Arial"/>
              </a:defRPr>
            </a:pPr>
            <a:r>
              <a:rPr sz="3525" b="1">
                <a:solidFill>
                  <a:srgbClr val="5A4AE7"/>
                </a:solidFill>
                <a:latin typeface="Arial"/>
                <a:ea typeface="Arial"/>
                <a:cs typeface="Arial"/>
              </a:rPr>
              <a:t>→</a:t>
            </a:r>
          </a:p>
        </p:txBody>
      </p:sp>
      <p:sp>
        <p:nvSpPr>
          <p:cNvPr id="7" name="step-1">
            <a:extLst>
              <a:ext uri="{FF2B5EF4-FFF2-40B4-BE49-F238E27FC236}">
                <a16:creationId xmlns:a16="http://schemas.microsoft.com/office/drawing/2014/main" id="{4E5E7541-6A22-446B-A68D-0844F8C9F671}"/>
              </a:ext>
            </a:extLst>
          </p:cNvPr>
          <p:cNvSpPr>
            <a:spLocks noGrp="1"/>
          </p:cNvSpPr>
          <p:nvPr/>
        </p:nvSpPr>
        <p:spPr>
          <a:xfrm>
            <a:off x="5476875" y="2857500"/>
            <a:ext cx="1428750" cy="552450"/>
          </a:xfrm>
          <a:prstGeom prst="rect">
            <a:avLst/>
          </a:prstGeom>
          <a:noFill/>
          <a:ln w="0">
            <a:noFill/>
          </a:ln>
        </p:spPr>
        <p:txBody>
          <a:bodyPr wrap="square" lIns="0" tIns="0" rIns="0" bIns="0" anchor="ctr">
            <a:noAutofit/>
          </a:bodyPr>
          <a:lstStyle/>
          <a:p>
            <a:pPr algn="l">
              <a:defRPr sz="2850" b="1">
                <a:solidFill>
                  <a:srgbClr val="5A4AE7"/>
                </a:solidFill>
                <a:latin typeface="Arial"/>
                <a:ea typeface="Arial"/>
                <a:cs typeface="Arial"/>
              </a:defRPr>
            </a:pPr>
            <a:r>
              <a:rPr sz="2850" b="1">
                <a:solidFill>
                  <a:srgbClr val="5A4AE7"/>
                </a:solidFill>
                <a:latin typeface="Arial"/>
                <a:ea typeface="Arial"/>
                <a:cs typeface="Arial"/>
              </a:rPr>
              <a:t>02</a:t>
            </a:r>
          </a:p>
        </p:txBody>
      </p:sp>
      <p:sp>
        <p:nvSpPr>
          <p:cNvPr id="8" name="stage-1">
            <a:extLst>
              <a:ext uri="{FF2B5EF4-FFF2-40B4-BE49-F238E27FC236}">
                <a16:creationId xmlns:a16="http://schemas.microsoft.com/office/drawing/2014/main" id="{349455F3-669C-4A04-A293-E90485322943}"/>
              </a:ext>
            </a:extLst>
          </p:cNvPr>
          <p:cNvSpPr>
            <a:spLocks noGrp="1"/>
          </p:cNvSpPr>
          <p:nvPr/>
        </p:nvSpPr>
        <p:spPr>
          <a:xfrm>
            <a:off x="5476875" y="3619500"/>
            <a:ext cx="3333750" cy="762000"/>
          </a:xfrm>
          <a:prstGeom prst="rect">
            <a:avLst/>
          </a:prstGeom>
          <a:noFill/>
          <a:ln w="0">
            <a:noFill/>
          </a:ln>
        </p:spPr>
        <p:txBody>
          <a:bodyPr wrap="square" lIns="0" tIns="0" rIns="0" bIns="0" anchor="ctr">
            <a:noAutofit/>
          </a:bodyPr>
          <a:lstStyle/>
          <a:p>
            <a:pPr algn="l">
              <a:defRPr sz="3150" b="1">
                <a:solidFill>
                  <a:srgbClr val="142931"/>
                </a:solidFill>
                <a:latin typeface="Arial"/>
                <a:ea typeface="Arial"/>
                <a:cs typeface="Arial"/>
              </a:defRPr>
            </a:pPr>
            <a:r>
              <a:rPr sz="3150" b="1">
                <a:solidFill>
                  <a:srgbClr val="142931"/>
                </a:solidFill>
                <a:latin typeface="Arial"/>
                <a:ea typeface="Arial"/>
                <a:cs typeface="Arial"/>
              </a:rPr>
              <a:t>Đọc văn bản</a:t>
            </a:r>
          </a:p>
        </p:txBody>
      </p:sp>
      <p:sp>
        <p:nvSpPr>
          <p:cNvPr id="9" name="stage-detail-1">
            <a:extLst>
              <a:ext uri="{FF2B5EF4-FFF2-40B4-BE49-F238E27FC236}">
                <a16:creationId xmlns:a16="http://schemas.microsoft.com/office/drawing/2014/main" id="{BEA378D2-1112-4E02-A4E7-98059BDC7437}"/>
              </a:ext>
            </a:extLst>
          </p:cNvPr>
          <p:cNvSpPr>
            <a:spLocks noGrp="1"/>
          </p:cNvSpPr>
          <p:nvPr/>
        </p:nvSpPr>
        <p:spPr>
          <a:xfrm>
            <a:off x="5476875" y="4524375"/>
            <a:ext cx="3333750" cy="666750"/>
          </a:xfrm>
          <a:prstGeom prst="rect">
            <a:avLst/>
          </a:prstGeom>
          <a:noFill/>
          <a:ln w="0">
            <a:noFill/>
          </a:ln>
        </p:spPr>
        <p:txBody>
          <a:bodyPr wrap="square" lIns="0" tIns="0" rIns="0" bIns="0" anchor="ctr">
            <a:noAutofit/>
          </a:bodyPr>
          <a:lstStyle/>
          <a:p>
            <a:pPr algn="l">
              <a:defRPr sz="2325" b="0">
                <a:solidFill>
                  <a:srgbClr val="62747A"/>
                </a:solidFill>
                <a:latin typeface="Arial"/>
                <a:ea typeface="Arial"/>
                <a:cs typeface="Arial"/>
              </a:defRPr>
            </a:pPr>
            <a:r>
              <a:rPr sz="2325" b="0">
                <a:solidFill>
                  <a:srgbClr val="62747A"/>
                </a:solidFill>
                <a:latin typeface="Arial"/>
                <a:ea typeface="Arial"/>
                <a:cs typeface="Arial"/>
              </a:rPr>
              <a:t>OCR và sửa lỗi</a:t>
            </a:r>
          </a:p>
        </p:txBody>
      </p:sp>
      <p:sp>
        <p:nvSpPr>
          <p:cNvPr id="10" name="arrow-1">
            <a:extLst>
              <a:ext uri="{FF2B5EF4-FFF2-40B4-BE49-F238E27FC236}">
                <a16:creationId xmlns:a16="http://schemas.microsoft.com/office/drawing/2014/main" id="{39DA9C91-E2E4-421D-86CF-8B42D58EA183}"/>
              </a:ext>
            </a:extLst>
          </p:cNvPr>
          <p:cNvSpPr>
            <a:spLocks noGrp="1"/>
          </p:cNvSpPr>
          <p:nvPr/>
        </p:nvSpPr>
        <p:spPr>
          <a:xfrm>
            <a:off x="8810625" y="3790950"/>
            <a:ext cx="714375" cy="714375"/>
          </a:xfrm>
          <a:prstGeom prst="rect">
            <a:avLst/>
          </a:prstGeom>
          <a:noFill/>
          <a:ln w="0">
            <a:noFill/>
          </a:ln>
        </p:spPr>
        <p:txBody>
          <a:bodyPr wrap="square" lIns="0" tIns="0" rIns="0" bIns="0" anchor="ctr">
            <a:noAutofit/>
          </a:bodyPr>
          <a:lstStyle/>
          <a:p>
            <a:pPr algn="ctr">
              <a:defRPr sz="3525" b="1">
                <a:solidFill>
                  <a:srgbClr val="5A4AE7"/>
                </a:solidFill>
                <a:latin typeface="Arial"/>
                <a:ea typeface="Arial"/>
                <a:cs typeface="Arial"/>
              </a:defRPr>
            </a:pPr>
            <a:r>
              <a:rPr sz="3525" b="1">
                <a:solidFill>
                  <a:srgbClr val="5A4AE7"/>
                </a:solidFill>
                <a:latin typeface="Arial"/>
                <a:ea typeface="Arial"/>
                <a:cs typeface="Arial"/>
              </a:rPr>
              <a:t>→</a:t>
            </a:r>
          </a:p>
        </p:txBody>
      </p:sp>
      <p:sp>
        <p:nvSpPr>
          <p:cNvPr id="11" name="step-2">
            <a:extLst>
              <a:ext uri="{FF2B5EF4-FFF2-40B4-BE49-F238E27FC236}">
                <a16:creationId xmlns:a16="http://schemas.microsoft.com/office/drawing/2014/main" id="{2B534A0E-D7CC-4D32-90CC-AD95C3A0C4CF}"/>
              </a:ext>
            </a:extLst>
          </p:cNvPr>
          <p:cNvSpPr>
            <a:spLocks noGrp="1"/>
          </p:cNvSpPr>
          <p:nvPr/>
        </p:nvSpPr>
        <p:spPr>
          <a:xfrm>
            <a:off x="9763125" y="2857500"/>
            <a:ext cx="1428750" cy="552450"/>
          </a:xfrm>
          <a:prstGeom prst="rect">
            <a:avLst/>
          </a:prstGeom>
          <a:noFill/>
          <a:ln w="0">
            <a:noFill/>
          </a:ln>
        </p:spPr>
        <p:txBody>
          <a:bodyPr wrap="square" lIns="0" tIns="0" rIns="0" bIns="0" anchor="ctr">
            <a:noAutofit/>
          </a:bodyPr>
          <a:lstStyle/>
          <a:p>
            <a:pPr algn="l">
              <a:defRPr sz="2850" b="1">
                <a:solidFill>
                  <a:srgbClr val="5A4AE7"/>
                </a:solidFill>
                <a:latin typeface="Arial"/>
                <a:ea typeface="Arial"/>
                <a:cs typeface="Arial"/>
              </a:defRPr>
            </a:pPr>
            <a:r>
              <a:rPr sz="2850" b="1">
                <a:solidFill>
                  <a:srgbClr val="5A4AE7"/>
                </a:solidFill>
                <a:latin typeface="Arial"/>
                <a:ea typeface="Arial"/>
                <a:cs typeface="Arial"/>
              </a:rPr>
              <a:t>03</a:t>
            </a:r>
          </a:p>
        </p:txBody>
      </p:sp>
      <p:sp>
        <p:nvSpPr>
          <p:cNvPr id="12" name="stage-2">
            <a:extLst>
              <a:ext uri="{FF2B5EF4-FFF2-40B4-BE49-F238E27FC236}">
                <a16:creationId xmlns:a16="http://schemas.microsoft.com/office/drawing/2014/main" id="{BA996039-4848-4A9E-9FBA-B4D01CDA638E}"/>
              </a:ext>
            </a:extLst>
          </p:cNvPr>
          <p:cNvSpPr>
            <a:spLocks noGrp="1"/>
          </p:cNvSpPr>
          <p:nvPr/>
        </p:nvSpPr>
        <p:spPr>
          <a:xfrm>
            <a:off x="9763125" y="3619500"/>
            <a:ext cx="3333750" cy="762000"/>
          </a:xfrm>
          <a:prstGeom prst="rect">
            <a:avLst/>
          </a:prstGeom>
          <a:noFill/>
          <a:ln w="0">
            <a:noFill/>
          </a:ln>
        </p:spPr>
        <p:txBody>
          <a:bodyPr wrap="square" lIns="0" tIns="0" rIns="0" bIns="0" anchor="ctr">
            <a:noAutofit/>
          </a:bodyPr>
          <a:lstStyle/>
          <a:p>
            <a:pPr algn="l">
              <a:defRPr sz="3150" b="1">
                <a:solidFill>
                  <a:srgbClr val="142931"/>
                </a:solidFill>
                <a:latin typeface="Arial"/>
                <a:ea typeface="Arial"/>
                <a:cs typeface="Arial"/>
              </a:defRPr>
            </a:pPr>
            <a:r>
              <a:rPr sz="3150" b="1">
                <a:solidFill>
                  <a:srgbClr val="142931"/>
                </a:solidFill>
                <a:latin typeface="Arial"/>
                <a:ea typeface="Arial"/>
                <a:cs typeface="Arial"/>
              </a:rPr>
              <a:t>Tạo học liệu</a:t>
            </a:r>
          </a:p>
        </p:txBody>
      </p:sp>
      <p:sp>
        <p:nvSpPr>
          <p:cNvPr id="13" name="stage-detail-2">
            <a:extLst>
              <a:ext uri="{FF2B5EF4-FFF2-40B4-BE49-F238E27FC236}">
                <a16:creationId xmlns:a16="http://schemas.microsoft.com/office/drawing/2014/main" id="{4FDD91E5-CE26-4CE4-B6C9-7FCC79AEF3B1}"/>
              </a:ext>
            </a:extLst>
          </p:cNvPr>
          <p:cNvSpPr>
            <a:spLocks noGrp="1"/>
          </p:cNvSpPr>
          <p:nvPr/>
        </p:nvSpPr>
        <p:spPr>
          <a:xfrm>
            <a:off x="9763125" y="4524375"/>
            <a:ext cx="3333750" cy="666750"/>
          </a:xfrm>
          <a:prstGeom prst="rect">
            <a:avLst/>
          </a:prstGeom>
          <a:noFill/>
          <a:ln w="0">
            <a:noFill/>
          </a:ln>
        </p:spPr>
        <p:txBody>
          <a:bodyPr wrap="square" lIns="0" tIns="0" rIns="0" bIns="0" anchor="ctr">
            <a:noAutofit/>
          </a:bodyPr>
          <a:lstStyle/>
          <a:p>
            <a:pPr algn="l">
              <a:defRPr sz="2325" b="0">
                <a:solidFill>
                  <a:srgbClr val="62747A"/>
                </a:solidFill>
                <a:latin typeface="Arial"/>
                <a:ea typeface="Arial"/>
                <a:cs typeface="Arial"/>
              </a:defRPr>
            </a:pPr>
            <a:r>
              <a:rPr sz="2325" b="0">
                <a:solidFill>
                  <a:srgbClr val="62747A"/>
                </a:solidFill>
                <a:latin typeface="Arial"/>
                <a:ea typeface="Arial"/>
                <a:cs typeface="Arial"/>
              </a:rPr>
              <a:t>AI đề xuất thẻ</a:t>
            </a:r>
          </a:p>
        </p:txBody>
      </p:sp>
      <p:sp>
        <p:nvSpPr>
          <p:cNvPr id="14" name="arrow-2">
            <a:extLst>
              <a:ext uri="{FF2B5EF4-FFF2-40B4-BE49-F238E27FC236}">
                <a16:creationId xmlns:a16="http://schemas.microsoft.com/office/drawing/2014/main" id="{B258B6E9-5DBD-4A5D-89E1-61BD93058646}"/>
              </a:ext>
            </a:extLst>
          </p:cNvPr>
          <p:cNvSpPr>
            <a:spLocks noGrp="1"/>
          </p:cNvSpPr>
          <p:nvPr/>
        </p:nvSpPr>
        <p:spPr>
          <a:xfrm>
            <a:off x="13096875" y="3790950"/>
            <a:ext cx="714375" cy="714375"/>
          </a:xfrm>
          <a:prstGeom prst="rect">
            <a:avLst/>
          </a:prstGeom>
          <a:noFill/>
          <a:ln w="0">
            <a:noFill/>
          </a:ln>
        </p:spPr>
        <p:txBody>
          <a:bodyPr wrap="square" lIns="0" tIns="0" rIns="0" bIns="0" anchor="ctr">
            <a:noAutofit/>
          </a:bodyPr>
          <a:lstStyle/>
          <a:p>
            <a:pPr algn="ctr">
              <a:defRPr sz="3525" b="1">
                <a:solidFill>
                  <a:srgbClr val="5A4AE7"/>
                </a:solidFill>
                <a:latin typeface="Arial"/>
                <a:ea typeface="Arial"/>
                <a:cs typeface="Arial"/>
              </a:defRPr>
            </a:pPr>
            <a:r>
              <a:rPr sz="3525" b="1">
                <a:solidFill>
                  <a:srgbClr val="5A4AE7"/>
                </a:solidFill>
                <a:latin typeface="Arial"/>
                <a:ea typeface="Arial"/>
                <a:cs typeface="Arial"/>
              </a:rPr>
              <a:t>→</a:t>
            </a:r>
          </a:p>
        </p:txBody>
      </p:sp>
      <p:sp>
        <p:nvSpPr>
          <p:cNvPr id="15" name="step-3">
            <a:extLst>
              <a:ext uri="{FF2B5EF4-FFF2-40B4-BE49-F238E27FC236}">
                <a16:creationId xmlns:a16="http://schemas.microsoft.com/office/drawing/2014/main" id="{4CEB248A-CCBD-496C-B2B5-C176E31492DF}"/>
              </a:ext>
            </a:extLst>
          </p:cNvPr>
          <p:cNvSpPr>
            <a:spLocks noGrp="1"/>
          </p:cNvSpPr>
          <p:nvPr/>
        </p:nvSpPr>
        <p:spPr>
          <a:xfrm>
            <a:off x="14049375" y="2857500"/>
            <a:ext cx="1428750" cy="552450"/>
          </a:xfrm>
          <a:prstGeom prst="rect">
            <a:avLst/>
          </a:prstGeom>
          <a:noFill/>
          <a:ln w="0">
            <a:noFill/>
          </a:ln>
        </p:spPr>
        <p:txBody>
          <a:bodyPr wrap="square" lIns="0" tIns="0" rIns="0" bIns="0" anchor="ctr">
            <a:noAutofit/>
          </a:bodyPr>
          <a:lstStyle/>
          <a:p>
            <a:pPr algn="l">
              <a:defRPr sz="2850" b="1">
                <a:solidFill>
                  <a:srgbClr val="5A4AE7"/>
                </a:solidFill>
                <a:latin typeface="Arial"/>
                <a:ea typeface="Arial"/>
                <a:cs typeface="Arial"/>
              </a:defRPr>
            </a:pPr>
            <a:r>
              <a:rPr sz="2850" b="1">
                <a:solidFill>
                  <a:srgbClr val="5A4AE7"/>
                </a:solidFill>
                <a:latin typeface="Arial"/>
                <a:ea typeface="Arial"/>
                <a:cs typeface="Arial"/>
              </a:rPr>
              <a:t>04</a:t>
            </a:r>
          </a:p>
        </p:txBody>
      </p:sp>
      <p:sp>
        <p:nvSpPr>
          <p:cNvPr id="16" name="stage-3">
            <a:extLst>
              <a:ext uri="{FF2B5EF4-FFF2-40B4-BE49-F238E27FC236}">
                <a16:creationId xmlns:a16="http://schemas.microsoft.com/office/drawing/2014/main" id="{C0FC86CF-AF39-4B20-A9B4-9EE237DF129F}"/>
              </a:ext>
            </a:extLst>
          </p:cNvPr>
          <p:cNvSpPr>
            <a:spLocks noGrp="1"/>
          </p:cNvSpPr>
          <p:nvPr/>
        </p:nvSpPr>
        <p:spPr>
          <a:xfrm>
            <a:off x="14049375" y="3619500"/>
            <a:ext cx="3333750" cy="762000"/>
          </a:xfrm>
          <a:prstGeom prst="rect">
            <a:avLst/>
          </a:prstGeom>
          <a:noFill/>
          <a:ln w="0">
            <a:noFill/>
          </a:ln>
        </p:spPr>
        <p:txBody>
          <a:bodyPr wrap="square" lIns="0" tIns="0" rIns="0" bIns="0" anchor="ctr">
            <a:noAutofit/>
          </a:bodyPr>
          <a:lstStyle/>
          <a:p>
            <a:pPr algn="l">
              <a:defRPr sz="3150" b="1">
                <a:solidFill>
                  <a:srgbClr val="142931"/>
                </a:solidFill>
                <a:latin typeface="Arial"/>
                <a:ea typeface="Arial"/>
                <a:cs typeface="Arial"/>
              </a:defRPr>
            </a:pPr>
            <a:r>
              <a:rPr sz="3150" b="1">
                <a:solidFill>
                  <a:srgbClr val="142931"/>
                </a:solidFill>
                <a:latin typeface="Arial"/>
                <a:ea typeface="Arial"/>
                <a:cs typeface="Arial"/>
              </a:rPr>
              <a:t>Ôn tập</a:t>
            </a:r>
          </a:p>
        </p:txBody>
      </p:sp>
      <p:sp>
        <p:nvSpPr>
          <p:cNvPr id="17" name="stage-detail-3">
            <a:extLst>
              <a:ext uri="{FF2B5EF4-FFF2-40B4-BE49-F238E27FC236}">
                <a16:creationId xmlns:a16="http://schemas.microsoft.com/office/drawing/2014/main" id="{25BFA0F4-9AAA-419F-85BF-123AD9587C55}"/>
              </a:ext>
            </a:extLst>
          </p:cNvPr>
          <p:cNvSpPr>
            <a:spLocks noGrp="1"/>
          </p:cNvSpPr>
          <p:nvPr/>
        </p:nvSpPr>
        <p:spPr>
          <a:xfrm>
            <a:off x="14049375" y="4524375"/>
            <a:ext cx="3333750" cy="666750"/>
          </a:xfrm>
          <a:prstGeom prst="rect">
            <a:avLst/>
          </a:prstGeom>
          <a:noFill/>
          <a:ln w="0">
            <a:noFill/>
          </a:ln>
        </p:spPr>
        <p:txBody>
          <a:bodyPr wrap="square" lIns="0" tIns="0" rIns="0" bIns="0" anchor="ctr">
            <a:noAutofit/>
          </a:bodyPr>
          <a:lstStyle/>
          <a:p>
            <a:pPr algn="l">
              <a:defRPr sz="2325" b="0">
                <a:solidFill>
                  <a:srgbClr val="62747A"/>
                </a:solidFill>
                <a:latin typeface="Arial"/>
                <a:ea typeface="Arial"/>
                <a:cs typeface="Arial"/>
              </a:defRPr>
            </a:pPr>
            <a:r>
              <a:rPr sz="2325" b="0">
                <a:solidFill>
                  <a:srgbClr val="62747A"/>
                </a:solidFill>
                <a:latin typeface="Arial"/>
                <a:ea typeface="Arial"/>
                <a:cs typeface="Arial"/>
              </a:rPr>
              <a:t>Phản hồi và lịch ôn</a:t>
            </a:r>
          </a:p>
        </p:txBody>
      </p:sp>
      <p:sp>
        <p:nvSpPr>
          <p:cNvPr id="18" name="checkpoint-1">
            <a:extLst>
              <a:ext uri="{FF2B5EF4-FFF2-40B4-BE49-F238E27FC236}">
                <a16:creationId xmlns:a16="http://schemas.microsoft.com/office/drawing/2014/main" id="{3FD26D30-DB37-4CF9-B818-90D910842F88}"/>
              </a:ext>
            </a:extLst>
          </p:cNvPr>
          <p:cNvSpPr>
            <a:spLocks noGrp="1"/>
          </p:cNvSpPr>
          <p:nvPr/>
        </p:nvSpPr>
        <p:spPr>
          <a:xfrm>
            <a:off x="1381125" y="6810375"/>
            <a:ext cx="15240000" cy="685800"/>
          </a:xfrm>
          <a:prstGeom prst="rect">
            <a:avLst/>
          </a:prstGeom>
          <a:noFill/>
          <a:ln w="0">
            <a:noFill/>
          </a:ln>
        </p:spPr>
        <p:txBody>
          <a:bodyPr wrap="square" lIns="0" tIns="0" rIns="0" bIns="0" anchor="ctr">
            <a:noAutofit/>
          </a:bodyPr>
          <a:lstStyle/>
          <a:p>
            <a:pPr algn="l">
              <a:defRPr sz="2625" b="1">
                <a:solidFill>
                  <a:srgbClr val="142931"/>
                </a:solidFill>
                <a:latin typeface="Arial"/>
                <a:ea typeface="Arial"/>
                <a:cs typeface="Arial"/>
              </a:defRPr>
            </a:pPr>
            <a:r>
              <a:rPr sz="2625" b="1">
                <a:solidFill>
                  <a:srgbClr val="142931"/>
                </a:solidFill>
                <a:latin typeface="Arial"/>
                <a:ea typeface="Arial"/>
                <a:cs typeface="Arial"/>
              </a:rPr>
              <a:t>Người dùng xác nhận văn bản trước khi gửi AI</a:t>
            </a:r>
          </a:p>
        </p:txBody>
      </p:sp>
      <p:sp>
        <p:nvSpPr>
          <p:cNvPr id="19" name="checkpoint-2">
            <a:extLst>
              <a:ext uri="{FF2B5EF4-FFF2-40B4-BE49-F238E27FC236}">
                <a16:creationId xmlns:a16="http://schemas.microsoft.com/office/drawing/2014/main" id="{B2DA499B-664E-4C31-9517-190B02E72319}"/>
              </a:ext>
            </a:extLst>
          </p:cNvPr>
          <p:cNvSpPr>
            <a:spLocks noGrp="1"/>
          </p:cNvSpPr>
          <p:nvPr/>
        </p:nvSpPr>
        <p:spPr>
          <a:xfrm>
            <a:off x="1381125" y="7667625"/>
            <a:ext cx="15240000" cy="685800"/>
          </a:xfrm>
          <a:prstGeom prst="rect">
            <a:avLst/>
          </a:prstGeom>
          <a:noFill/>
          <a:ln w="0">
            <a:noFill/>
          </a:ln>
        </p:spPr>
        <p:txBody>
          <a:bodyPr wrap="square" lIns="0" tIns="0" rIns="0" bIns="0" anchor="ctr">
            <a:noAutofit/>
          </a:bodyPr>
          <a:lstStyle/>
          <a:p>
            <a:pPr algn="l">
              <a:defRPr sz="2625" b="1">
                <a:solidFill>
                  <a:srgbClr val="142931"/>
                </a:solidFill>
                <a:latin typeface="Arial"/>
                <a:ea typeface="Arial"/>
                <a:cs typeface="Arial"/>
              </a:defRPr>
            </a:pPr>
            <a:r>
              <a:rPr sz="2625" b="1">
                <a:solidFill>
                  <a:srgbClr val="142931"/>
                </a:solidFill>
                <a:latin typeface="Arial"/>
                <a:ea typeface="Arial"/>
                <a:cs typeface="Arial"/>
              </a:rPr>
              <a:t>Người dùng duyệt thẻ trước khi lưu vào lịch ôn</a:t>
            </a:r>
          </a:p>
        </p:txBody>
      </p:sp>
    </p:spTree>
    <p:extLst>
      <p:ext uri="{BB962C8B-B14F-4D97-AF65-F5344CB8AC3E}">
        <p14:creationId xmlns:p14="http://schemas.microsoft.com/office/powerpoint/2010/main" val="1161437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91E26"/>
        </a:solidFill>
        <a:effectLst/>
      </p:bgPr>
    </p:bg>
    <p:spTree>
      <p:nvGrpSpPr>
        <p:cNvPr id="1" name=""/>
        <p:cNvGrpSpPr/>
        <p:nvPr/>
      </p:nvGrpSpPr>
      <p:grpSpPr>
        <a:xfrm>
          <a:off x="0" y="0"/>
          <a:ext cx="0" cy="0"/>
          <a:chOff x="0" y="0"/>
          <a:chExt cx="0" cy="0"/>
        </a:xfrm>
      </p:grpSpPr>
      <p:pic>
        <p:nvPicPr>
          <p:cNvPr id="15" name="Picture 14"/>
          <p:cNvPicPr>
            <a:picLocks noChangeAspect="1"/>
          </p:cNvPicPr>
          <p:nvPr/>
        </p:nvPicPr>
        <p:blipFill>
          <a:blip r:embed="rId3"/>
          <a:srcRect t="21875" b="21875"/>
          <a:stretch>
            <a:fillRect/>
          </a:stretch>
        </p:blipFill>
        <p:spPr>
          <a:xfrm>
            <a:off x="0" y="0"/>
            <a:ext cx="18288000" cy="10287000"/>
          </a:xfrm>
          <a:prstGeom prst="rect">
            <a:avLst/>
          </a:prstGeom>
        </p:spPr>
      </p:pic>
      <p:sp>
        <p:nvSpPr>
          <p:cNvPr id="2" name="slide-number">
            <a:extLst>
              <a:ext uri="{FF2B5EF4-FFF2-40B4-BE49-F238E27FC236}">
                <a16:creationId xmlns:a16="http://schemas.microsoft.com/office/drawing/2014/main" id="{4851145E-C281-4C60-9273-44C3C0A4B4D9}"/>
              </a:ext>
            </a:extLst>
          </p:cNvPr>
          <p:cNvSpPr>
            <a:spLocks noGrp="1"/>
          </p:cNvSpPr>
          <p:nvPr/>
        </p:nvSpPr>
        <p:spPr>
          <a:xfrm>
            <a:off x="1238250" y="495300"/>
            <a:ext cx="952500" cy="457200"/>
          </a:xfrm>
          <a:prstGeom prst="rect">
            <a:avLst/>
          </a:prstGeom>
          <a:noFill/>
          <a:ln w="0">
            <a:noFill/>
          </a:ln>
        </p:spPr>
        <p:txBody>
          <a:bodyPr wrap="square" lIns="0" tIns="0" rIns="0" bIns="0" anchor="ctr">
            <a:noAutofit/>
          </a:bodyPr>
          <a:lstStyle/>
          <a:p>
            <a:pPr algn="l">
              <a:defRPr sz="2025" b="1">
                <a:solidFill>
                  <a:srgbClr val="84E3EA"/>
                </a:solidFill>
                <a:latin typeface="Arial"/>
                <a:ea typeface="Arial"/>
                <a:cs typeface="Arial"/>
              </a:defRPr>
            </a:pPr>
            <a:r>
              <a:rPr sz="2025" b="1">
                <a:solidFill>
                  <a:srgbClr val="84E3EA"/>
                </a:solidFill>
                <a:latin typeface="Arial"/>
                <a:ea typeface="Arial"/>
                <a:cs typeface="Arial"/>
              </a:rPr>
              <a:t>04</a:t>
            </a:r>
          </a:p>
        </p:txBody>
      </p:sp>
      <p:sp>
        <p:nvSpPr>
          <p:cNvPr id="3" name="title">
            <a:extLst>
              <a:ext uri="{FF2B5EF4-FFF2-40B4-BE49-F238E27FC236}">
                <a16:creationId xmlns:a16="http://schemas.microsoft.com/office/drawing/2014/main" id="{0A5628B5-2E7F-4630-8DC0-22A559C9FCC7}"/>
              </a:ext>
            </a:extLst>
          </p:cNvPr>
          <p:cNvSpPr>
            <a:spLocks noGrp="1"/>
          </p:cNvSpPr>
          <p:nvPr/>
        </p:nvSpPr>
        <p:spPr>
          <a:xfrm>
            <a:off x="1238250" y="990600"/>
            <a:ext cx="15716250" cy="990600"/>
          </a:xfrm>
          <a:prstGeom prst="rect">
            <a:avLst/>
          </a:prstGeom>
          <a:noFill/>
          <a:ln w="0">
            <a:noFill/>
          </a:ln>
        </p:spPr>
        <p:txBody>
          <a:bodyPr wrap="square" lIns="0" tIns="0" rIns="0" bIns="0" anchor="ctr">
            <a:noAutofit/>
          </a:bodyPr>
          <a:lstStyle/>
          <a:p>
            <a:pPr algn="l">
              <a:defRPr sz="4425" b="1">
                <a:solidFill>
                  <a:srgbClr val="FFFFFF"/>
                </a:solidFill>
                <a:latin typeface="Arial"/>
                <a:ea typeface="Arial"/>
                <a:cs typeface="Arial"/>
              </a:defRPr>
            </a:pPr>
            <a:r>
              <a:rPr sz="4425" b="1">
                <a:solidFill>
                  <a:srgbClr val="FFFFFF"/>
                </a:solidFill>
                <a:latin typeface="Arial"/>
                <a:ea typeface="Arial"/>
                <a:cs typeface="Arial"/>
              </a:rPr>
              <a:t>Kiến trúc: học cục bộ, dịch vụ khi cần mạng</a:t>
            </a:r>
          </a:p>
        </p:txBody>
      </p:sp>
      <p:sp>
        <p:nvSpPr>
          <p:cNvPr id="4" name="device-label">
            <a:extLst>
              <a:ext uri="{FF2B5EF4-FFF2-40B4-BE49-F238E27FC236}">
                <a16:creationId xmlns:a16="http://schemas.microsoft.com/office/drawing/2014/main" id="{977133E5-895B-4128-8C72-FBBBA815D5F5}"/>
              </a:ext>
            </a:extLst>
          </p:cNvPr>
          <p:cNvSpPr>
            <a:spLocks noGrp="1"/>
          </p:cNvSpPr>
          <p:nvPr/>
        </p:nvSpPr>
        <p:spPr>
          <a:xfrm>
            <a:off x="1333500" y="2476500"/>
            <a:ext cx="7143750" cy="571500"/>
          </a:xfrm>
          <a:prstGeom prst="rect">
            <a:avLst/>
          </a:prstGeom>
          <a:noFill/>
          <a:ln w="0">
            <a:noFill/>
          </a:ln>
        </p:spPr>
        <p:txBody>
          <a:bodyPr wrap="square" lIns="0" tIns="0" rIns="0" bIns="0" anchor="ctr">
            <a:noAutofit/>
          </a:bodyPr>
          <a:lstStyle/>
          <a:p>
            <a:pPr algn="l">
              <a:defRPr sz="2700" b="1">
                <a:solidFill>
                  <a:srgbClr val="84E3EA"/>
                </a:solidFill>
                <a:latin typeface="Arial"/>
                <a:ea typeface="Arial"/>
                <a:cs typeface="Arial"/>
              </a:defRPr>
            </a:pPr>
            <a:r>
              <a:rPr sz="2700" b="1">
                <a:solidFill>
                  <a:srgbClr val="84E3EA"/>
                </a:solidFill>
                <a:latin typeface="Arial"/>
                <a:ea typeface="Arial"/>
                <a:cs typeface="Arial"/>
              </a:rPr>
              <a:t>TRÊN THIẾT BỊ ANDROID</a:t>
            </a:r>
          </a:p>
        </p:txBody>
      </p:sp>
      <p:sp>
        <p:nvSpPr>
          <p:cNvPr id="5" name="device-1">
            <a:extLst>
              <a:ext uri="{FF2B5EF4-FFF2-40B4-BE49-F238E27FC236}">
                <a16:creationId xmlns:a16="http://schemas.microsoft.com/office/drawing/2014/main" id="{222A514C-9C52-48BA-9C74-7ECD11FD3EFC}"/>
              </a:ext>
            </a:extLst>
          </p:cNvPr>
          <p:cNvSpPr>
            <a:spLocks noGrp="1"/>
          </p:cNvSpPr>
          <p:nvPr/>
        </p:nvSpPr>
        <p:spPr>
          <a:xfrm>
            <a:off x="1333500" y="3476625"/>
            <a:ext cx="7429500" cy="514350"/>
          </a:xfrm>
          <a:prstGeom prst="rect">
            <a:avLst/>
          </a:prstGeom>
          <a:noFill/>
          <a:ln w="0">
            <a:noFill/>
          </a:ln>
        </p:spPr>
        <p:txBody>
          <a:bodyPr wrap="square" lIns="0" tIns="0" rIns="0" bIns="0" anchor="ctr">
            <a:noAutofit/>
          </a:bodyPr>
          <a:lstStyle/>
          <a:p>
            <a:pPr algn="l">
              <a:defRPr sz="2400" b="0">
                <a:solidFill>
                  <a:srgbClr val="FFFFFF"/>
                </a:solidFill>
                <a:latin typeface="Arial"/>
                <a:ea typeface="Arial"/>
                <a:cs typeface="Arial"/>
              </a:defRPr>
            </a:pPr>
            <a:r>
              <a:rPr sz="2400" b="0">
                <a:solidFill>
                  <a:srgbClr val="FFFFFF"/>
                </a:solidFill>
                <a:latin typeface="Arial"/>
                <a:ea typeface="Arial"/>
                <a:cs typeface="Arial"/>
              </a:rPr>
              <a:t>Flutter / Dart: giao diện và luồng học</a:t>
            </a:r>
          </a:p>
        </p:txBody>
      </p:sp>
      <p:sp>
        <p:nvSpPr>
          <p:cNvPr id="6" name="device-2">
            <a:extLst>
              <a:ext uri="{FF2B5EF4-FFF2-40B4-BE49-F238E27FC236}">
                <a16:creationId xmlns:a16="http://schemas.microsoft.com/office/drawing/2014/main" id="{54983516-4BD5-43BC-87FE-BC420649188F}"/>
              </a:ext>
            </a:extLst>
          </p:cNvPr>
          <p:cNvSpPr>
            <a:spLocks noGrp="1"/>
          </p:cNvSpPr>
          <p:nvPr/>
        </p:nvSpPr>
        <p:spPr>
          <a:xfrm>
            <a:off x="1333500" y="4333875"/>
            <a:ext cx="7429500" cy="514350"/>
          </a:xfrm>
          <a:prstGeom prst="rect">
            <a:avLst/>
          </a:prstGeom>
          <a:noFill/>
          <a:ln w="0">
            <a:noFill/>
          </a:ln>
        </p:spPr>
        <p:txBody>
          <a:bodyPr wrap="square" lIns="0" tIns="0" rIns="0" bIns="0" anchor="ctr">
            <a:noAutofit/>
          </a:bodyPr>
          <a:lstStyle/>
          <a:p>
            <a:pPr algn="l">
              <a:defRPr sz="2400" b="0">
                <a:solidFill>
                  <a:srgbClr val="FFFFFF"/>
                </a:solidFill>
                <a:latin typeface="Arial"/>
                <a:ea typeface="Arial"/>
                <a:cs typeface="Arial"/>
              </a:defRPr>
            </a:pPr>
            <a:r>
              <a:rPr sz="2400" b="0">
                <a:solidFill>
                  <a:srgbClr val="FFFFFF"/>
                </a:solidFill>
                <a:latin typeface="Arial"/>
                <a:ea typeface="Arial"/>
                <a:cs typeface="Arial"/>
              </a:rPr>
              <a:t>ML Kit: nhận dạng văn bản từ ảnh</a:t>
            </a:r>
          </a:p>
        </p:txBody>
      </p:sp>
      <p:sp>
        <p:nvSpPr>
          <p:cNvPr id="7" name="device-3">
            <a:extLst>
              <a:ext uri="{FF2B5EF4-FFF2-40B4-BE49-F238E27FC236}">
                <a16:creationId xmlns:a16="http://schemas.microsoft.com/office/drawing/2014/main" id="{981F3239-79F4-4F2D-8A63-937EE8B6B3FF}"/>
              </a:ext>
            </a:extLst>
          </p:cNvPr>
          <p:cNvSpPr>
            <a:spLocks noGrp="1"/>
          </p:cNvSpPr>
          <p:nvPr/>
        </p:nvSpPr>
        <p:spPr>
          <a:xfrm>
            <a:off x="1333500" y="5191125"/>
            <a:ext cx="7429500" cy="514350"/>
          </a:xfrm>
          <a:prstGeom prst="rect">
            <a:avLst/>
          </a:prstGeom>
          <a:noFill/>
          <a:ln w="0">
            <a:noFill/>
          </a:ln>
        </p:spPr>
        <p:txBody>
          <a:bodyPr wrap="square" lIns="0" tIns="0" rIns="0" bIns="0" anchor="ctr">
            <a:noAutofit/>
          </a:bodyPr>
          <a:lstStyle/>
          <a:p>
            <a:pPr algn="l">
              <a:defRPr sz="2400" b="0">
                <a:solidFill>
                  <a:srgbClr val="FFFFFF"/>
                </a:solidFill>
                <a:latin typeface="Arial"/>
                <a:ea typeface="Arial"/>
                <a:cs typeface="Arial"/>
              </a:defRPr>
            </a:pPr>
            <a:r>
              <a:rPr sz="2400" b="0">
                <a:solidFill>
                  <a:srgbClr val="FFFFFF"/>
                </a:solidFill>
                <a:latin typeface="Arial"/>
                <a:ea typeface="Arial"/>
                <a:cs typeface="Arial"/>
              </a:rPr>
              <a:t>SQLite: lưu học liệu, lịch và tiến độ</a:t>
            </a:r>
          </a:p>
        </p:txBody>
      </p:sp>
      <p:sp>
        <p:nvSpPr>
          <p:cNvPr id="8" name="device-4">
            <a:extLst>
              <a:ext uri="{FF2B5EF4-FFF2-40B4-BE49-F238E27FC236}">
                <a16:creationId xmlns:a16="http://schemas.microsoft.com/office/drawing/2014/main" id="{591EA912-26BC-4664-8F79-5FC9765658AC}"/>
              </a:ext>
            </a:extLst>
          </p:cNvPr>
          <p:cNvSpPr>
            <a:spLocks noGrp="1"/>
          </p:cNvSpPr>
          <p:nvPr/>
        </p:nvSpPr>
        <p:spPr>
          <a:xfrm>
            <a:off x="1333500" y="6048375"/>
            <a:ext cx="7429500" cy="514350"/>
          </a:xfrm>
          <a:prstGeom prst="rect">
            <a:avLst/>
          </a:prstGeom>
          <a:noFill/>
          <a:ln w="0">
            <a:noFill/>
          </a:ln>
        </p:spPr>
        <p:txBody>
          <a:bodyPr wrap="square" lIns="0" tIns="0" rIns="0" bIns="0" anchor="ctr">
            <a:noAutofit/>
          </a:bodyPr>
          <a:lstStyle/>
          <a:p>
            <a:pPr algn="l">
              <a:defRPr sz="2400" b="0">
                <a:solidFill>
                  <a:srgbClr val="FFFFFF"/>
                </a:solidFill>
                <a:latin typeface="Arial"/>
                <a:ea typeface="Arial"/>
                <a:cs typeface="Arial"/>
              </a:defRPr>
            </a:pPr>
            <a:r>
              <a:rPr sz="2400" b="0">
                <a:solidFill>
                  <a:srgbClr val="FFFFFF"/>
                </a:solidFill>
                <a:latin typeface="Arial"/>
                <a:ea typeface="Arial"/>
                <a:cs typeface="Arial"/>
              </a:rPr>
              <a:t>SM-2 và thông báo: nhắc ôn cục bộ</a:t>
            </a:r>
          </a:p>
        </p:txBody>
      </p:sp>
      <p:sp>
        <p:nvSpPr>
          <p:cNvPr id="9" name="network-label">
            <a:extLst>
              <a:ext uri="{FF2B5EF4-FFF2-40B4-BE49-F238E27FC236}">
                <a16:creationId xmlns:a16="http://schemas.microsoft.com/office/drawing/2014/main" id="{2A45AE54-629D-4658-AEE2-1A1C8BBA2AD5}"/>
              </a:ext>
            </a:extLst>
          </p:cNvPr>
          <p:cNvSpPr>
            <a:spLocks noGrp="1"/>
          </p:cNvSpPr>
          <p:nvPr/>
        </p:nvSpPr>
        <p:spPr>
          <a:xfrm>
            <a:off x="9810750" y="2476500"/>
            <a:ext cx="7143750" cy="571500"/>
          </a:xfrm>
          <a:prstGeom prst="rect">
            <a:avLst/>
          </a:prstGeom>
          <a:noFill/>
          <a:ln w="0">
            <a:noFill/>
          </a:ln>
        </p:spPr>
        <p:txBody>
          <a:bodyPr wrap="square" lIns="0" tIns="0" rIns="0" bIns="0" anchor="ctr">
            <a:noAutofit/>
          </a:bodyPr>
          <a:lstStyle/>
          <a:p>
            <a:pPr algn="l">
              <a:defRPr sz="2700" b="1">
                <a:solidFill>
                  <a:srgbClr val="84E3EA"/>
                </a:solidFill>
                <a:latin typeface="Arial"/>
                <a:ea typeface="Arial"/>
                <a:cs typeface="Arial"/>
              </a:defRPr>
            </a:pPr>
            <a:r>
              <a:rPr sz="2700" b="1">
                <a:solidFill>
                  <a:srgbClr val="84E3EA"/>
                </a:solidFill>
                <a:latin typeface="Arial"/>
                <a:ea typeface="Arial"/>
                <a:cs typeface="Arial"/>
              </a:rPr>
              <a:t>DỊCH VỤ CẦN MẠNG</a:t>
            </a:r>
          </a:p>
        </p:txBody>
      </p:sp>
      <p:sp>
        <p:nvSpPr>
          <p:cNvPr id="10" name="network-1">
            <a:extLst>
              <a:ext uri="{FF2B5EF4-FFF2-40B4-BE49-F238E27FC236}">
                <a16:creationId xmlns:a16="http://schemas.microsoft.com/office/drawing/2014/main" id="{0AEB7A81-BC8E-4A7A-B052-1A13E6C24C59}"/>
              </a:ext>
            </a:extLst>
          </p:cNvPr>
          <p:cNvSpPr>
            <a:spLocks noGrp="1"/>
          </p:cNvSpPr>
          <p:nvPr/>
        </p:nvSpPr>
        <p:spPr>
          <a:xfrm>
            <a:off x="9810750" y="3476625"/>
            <a:ext cx="7143750" cy="514350"/>
          </a:xfrm>
          <a:prstGeom prst="rect">
            <a:avLst/>
          </a:prstGeom>
          <a:noFill/>
          <a:ln w="0">
            <a:noFill/>
          </a:ln>
        </p:spPr>
        <p:txBody>
          <a:bodyPr wrap="square" lIns="0" tIns="0" rIns="0" bIns="0" anchor="ctr">
            <a:noAutofit/>
          </a:bodyPr>
          <a:lstStyle/>
          <a:p>
            <a:pPr algn="l">
              <a:defRPr sz="2400" b="0">
                <a:solidFill>
                  <a:srgbClr val="FFFFFF"/>
                </a:solidFill>
                <a:latin typeface="Arial"/>
                <a:ea typeface="Arial"/>
                <a:cs typeface="Arial"/>
              </a:defRPr>
            </a:pPr>
            <a:r>
              <a:rPr sz="2400" b="0">
                <a:solidFill>
                  <a:srgbClr val="FFFFFF"/>
                </a:solidFill>
                <a:latin typeface="Arial"/>
                <a:ea typeface="Arial"/>
                <a:cs typeface="Arial"/>
              </a:rPr>
              <a:t>Express → Groq: đề xuất học liệu</a:t>
            </a:r>
          </a:p>
        </p:txBody>
      </p:sp>
      <p:sp>
        <p:nvSpPr>
          <p:cNvPr id="11" name="network-2">
            <a:extLst>
              <a:ext uri="{FF2B5EF4-FFF2-40B4-BE49-F238E27FC236}">
                <a16:creationId xmlns:a16="http://schemas.microsoft.com/office/drawing/2014/main" id="{CC7B8E84-3ECD-4CEE-A205-4A979D1EAFEB}"/>
              </a:ext>
            </a:extLst>
          </p:cNvPr>
          <p:cNvSpPr>
            <a:spLocks noGrp="1"/>
          </p:cNvSpPr>
          <p:nvPr/>
        </p:nvSpPr>
        <p:spPr>
          <a:xfrm>
            <a:off x="9810750" y="4333875"/>
            <a:ext cx="7143750" cy="514350"/>
          </a:xfrm>
          <a:prstGeom prst="rect">
            <a:avLst/>
          </a:prstGeom>
          <a:noFill/>
          <a:ln w="0">
            <a:noFill/>
          </a:ln>
        </p:spPr>
        <p:txBody>
          <a:bodyPr wrap="square" lIns="0" tIns="0" rIns="0" bIns="0" anchor="ctr">
            <a:noAutofit/>
          </a:bodyPr>
          <a:lstStyle/>
          <a:p>
            <a:pPr algn="l">
              <a:defRPr sz="2400" b="0">
                <a:solidFill>
                  <a:srgbClr val="FFFFFF"/>
                </a:solidFill>
                <a:latin typeface="Arial"/>
                <a:ea typeface="Arial"/>
                <a:cs typeface="Arial"/>
              </a:defRPr>
            </a:pPr>
            <a:r>
              <a:rPr sz="2400" b="0">
                <a:solidFill>
                  <a:srgbClr val="FFFFFF"/>
                </a:solidFill>
                <a:latin typeface="Arial"/>
                <a:ea typeface="Arial"/>
                <a:cs typeface="Arial"/>
              </a:rPr>
              <a:t>Gemini: hỗ trợ vùng ảnh OCR được chọn</a:t>
            </a:r>
          </a:p>
        </p:txBody>
      </p:sp>
      <p:sp>
        <p:nvSpPr>
          <p:cNvPr id="12" name="network-3">
            <a:extLst>
              <a:ext uri="{FF2B5EF4-FFF2-40B4-BE49-F238E27FC236}">
                <a16:creationId xmlns:a16="http://schemas.microsoft.com/office/drawing/2014/main" id="{65CB0871-1C9E-4B4F-B61C-D30DE135AF73}"/>
              </a:ext>
            </a:extLst>
          </p:cNvPr>
          <p:cNvSpPr>
            <a:spLocks noGrp="1"/>
          </p:cNvSpPr>
          <p:nvPr/>
        </p:nvSpPr>
        <p:spPr>
          <a:xfrm>
            <a:off x="9810750" y="5191125"/>
            <a:ext cx="7143750" cy="514350"/>
          </a:xfrm>
          <a:prstGeom prst="rect">
            <a:avLst/>
          </a:prstGeom>
          <a:noFill/>
          <a:ln w="0">
            <a:noFill/>
          </a:ln>
        </p:spPr>
        <p:txBody>
          <a:bodyPr wrap="square" lIns="0" tIns="0" rIns="0" bIns="0" anchor="ctr">
            <a:noAutofit/>
          </a:bodyPr>
          <a:lstStyle/>
          <a:p>
            <a:pPr algn="l">
              <a:defRPr sz="2400" b="0">
                <a:solidFill>
                  <a:srgbClr val="FFFFFF"/>
                </a:solidFill>
                <a:latin typeface="Arial"/>
                <a:ea typeface="Arial"/>
                <a:cs typeface="Arial"/>
              </a:defRPr>
            </a:pPr>
            <a:r>
              <a:rPr sz="2400" b="0">
                <a:solidFill>
                  <a:srgbClr val="FFFFFF"/>
                </a:solidFill>
                <a:latin typeface="Arial"/>
                <a:ea typeface="Arial"/>
                <a:cs typeface="Arial"/>
              </a:rPr>
              <a:t>Firebase Auth / Firestore: tài khoản, thư viện</a:t>
            </a:r>
          </a:p>
        </p:txBody>
      </p:sp>
      <p:sp>
        <p:nvSpPr>
          <p:cNvPr id="13" name="network-4">
            <a:extLst>
              <a:ext uri="{FF2B5EF4-FFF2-40B4-BE49-F238E27FC236}">
                <a16:creationId xmlns:a16="http://schemas.microsoft.com/office/drawing/2014/main" id="{88CA6005-3E2D-4791-B1A6-BE9C4B24C817}"/>
              </a:ext>
            </a:extLst>
          </p:cNvPr>
          <p:cNvSpPr>
            <a:spLocks noGrp="1"/>
          </p:cNvSpPr>
          <p:nvPr/>
        </p:nvSpPr>
        <p:spPr>
          <a:xfrm>
            <a:off x="9810750" y="6048375"/>
            <a:ext cx="7143750" cy="514350"/>
          </a:xfrm>
          <a:prstGeom prst="rect">
            <a:avLst/>
          </a:prstGeom>
          <a:noFill/>
          <a:ln w="0">
            <a:noFill/>
          </a:ln>
        </p:spPr>
        <p:txBody>
          <a:bodyPr wrap="square" lIns="0" tIns="0" rIns="0" bIns="0" anchor="ctr">
            <a:noAutofit/>
          </a:bodyPr>
          <a:lstStyle/>
          <a:p>
            <a:pPr algn="l">
              <a:defRPr sz="2400" b="0">
                <a:solidFill>
                  <a:srgbClr val="FFFFFF"/>
                </a:solidFill>
                <a:latin typeface="Arial"/>
                <a:ea typeface="Arial"/>
                <a:cs typeface="Arial"/>
              </a:defRPr>
            </a:pPr>
            <a:r>
              <a:rPr sz="2400" b="0">
                <a:solidFill>
                  <a:srgbClr val="FFFFFF"/>
                </a:solidFill>
                <a:latin typeface="Arial"/>
                <a:ea typeface="Arial"/>
                <a:cs typeface="Arial"/>
              </a:rPr>
              <a:t>Amazon S3: tệp nguồn và bản sao lưu</a:t>
            </a:r>
          </a:p>
        </p:txBody>
      </p:sp>
      <p:sp>
        <p:nvSpPr>
          <p:cNvPr id="14" name="boundary">
            <a:extLst>
              <a:ext uri="{FF2B5EF4-FFF2-40B4-BE49-F238E27FC236}">
                <a16:creationId xmlns:a16="http://schemas.microsoft.com/office/drawing/2014/main" id="{71E1BE25-8C44-44CC-9E2B-428171357C3C}"/>
              </a:ext>
            </a:extLst>
          </p:cNvPr>
          <p:cNvSpPr>
            <a:spLocks noGrp="1"/>
          </p:cNvSpPr>
          <p:nvPr/>
        </p:nvSpPr>
        <p:spPr>
          <a:xfrm>
            <a:off x="1333500" y="8143875"/>
            <a:ext cx="15573375" cy="762000"/>
          </a:xfrm>
          <a:prstGeom prst="rect">
            <a:avLst/>
          </a:prstGeom>
          <a:noFill/>
          <a:ln w="0">
            <a:noFill/>
          </a:ln>
        </p:spPr>
        <p:txBody>
          <a:bodyPr wrap="square" lIns="0" tIns="0" rIns="0" bIns="0" anchor="ctr">
            <a:noAutofit/>
          </a:bodyPr>
          <a:lstStyle/>
          <a:p>
            <a:pPr algn="l">
              <a:defRPr sz="2550" b="1">
                <a:solidFill>
                  <a:srgbClr val="84E3EA"/>
                </a:solidFill>
                <a:latin typeface="Arial"/>
                <a:ea typeface="Arial"/>
                <a:cs typeface="Arial"/>
              </a:defRPr>
            </a:pPr>
            <a:r>
              <a:rPr sz="2550" b="1">
                <a:solidFill>
                  <a:srgbClr val="84E3EA"/>
                </a:solidFill>
                <a:latin typeface="Arial"/>
                <a:ea typeface="Arial"/>
                <a:cs typeface="Arial"/>
              </a:rPr>
              <a:t>Ôn thẻ đã lưu không cần mạng; tạo học liệu AI và đồng bộ cần mạng.</a:t>
            </a:r>
          </a:p>
        </p:txBody>
      </p:sp>
    </p:spTree>
    <p:extLst>
      <p:ext uri="{BB962C8B-B14F-4D97-AF65-F5344CB8AC3E}">
        <p14:creationId xmlns:p14="http://schemas.microsoft.com/office/powerpoint/2010/main" val="15511742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91E26"/>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3"/>
          <a:srcRect t="21875" b="21875"/>
          <a:stretch>
            <a:fillRect/>
          </a:stretch>
        </p:blipFill>
        <p:spPr>
          <a:xfrm>
            <a:off x="0" y="0"/>
            <a:ext cx="18288000" cy="10287000"/>
          </a:xfrm>
          <a:prstGeom prst="rect">
            <a:avLst/>
          </a:prstGeom>
        </p:spPr>
      </p:pic>
      <p:sp>
        <p:nvSpPr>
          <p:cNvPr id="2" name="slide-number">
            <a:extLst>
              <a:ext uri="{FF2B5EF4-FFF2-40B4-BE49-F238E27FC236}">
                <a16:creationId xmlns:a16="http://schemas.microsoft.com/office/drawing/2014/main" id="{1FA8D372-B305-494F-A409-CDDF7C663094}"/>
              </a:ext>
            </a:extLst>
          </p:cNvPr>
          <p:cNvSpPr>
            <a:spLocks noGrp="1"/>
          </p:cNvSpPr>
          <p:nvPr/>
        </p:nvSpPr>
        <p:spPr>
          <a:xfrm>
            <a:off x="1238250" y="495300"/>
            <a:ext cx="952500" cy="457200"/>
          </a:xfrm>
          <a:prstGeom prst="rect">
            <a:avLst/>
          </a:prstGeom>
          <a:noFill/>
          <a:ln w="0">
            <a:noFill/>
          </a:ln>
        </p:spPr>
        <p:txBody>
          <a:bodyPr wrap="square" lIns="0" tIns="0" rIns="0" bIns="0" anchor="ctr">
            <a:noAutofit/>
          </a:bodyPr>
          <a:lstStyle/>
          <a:p>
            <a:pPr algn="l">
              <a:defRPr sz="2025" b="1">
                <a:solidFill>
                  <a:srgbClr val="84E3EA"/>
                </a:solidFill>
                <a:latin typeface="Arial"/>
                <a:ea typeface="Arial"/>
                <a:cs typeface="Arial"/>
              </a:defRPr>
            </a:pPr>
            <a:r>
              <a:rPr sz="2025" b="1">
                <a:solidFill>
                  <a:srgbClr val="84E3EA"/>
                </a:solidFill>
                <a:latin typeface="Arial"/>
                <a:ea typeface="Arial"/>
                <a:cs typeface="Arial"/>
              </a:rPr>
              <a:t>05</a:t>
            </a:r>
          </a:p>
        </p:txBody>
      </p:sp>
      <p:sp>
        <p:nvSpPr>
          <p:cNvPr id="3" name="title">
            <a:extLst>
              <a:ext uri="{FF2B5EF4-FFF2-40B4-BE49-F238E27FC236}">
                <a16:creationId xmlns:a16="http://schemas.microsoft.com/office/drawing/2014/main" id="{8F1474C6-DA18-44D3-9184-854DDBF2F8E0}"/>
              </a:ext>
            </a:extLst>
          </p:cNvPr>
          <p:cNvSpPr>
            <a:spLocks noGrp="1"/>
          </p:cNvSpPr>
          <p:nvPr/>
        </p:nvSpPr>
        <p:spPr>
          <a:xfrm>
            <a:off x="1238250" y="990600"/>
            <a:ext cx="15716250" cy="990600"/>
          </a:xfrm>
          <a:prstGeom prst="rect">
            <a:avLst/>
          </a:prstGeom>
          <a:noFill/>
          <a:ln w="0">
            <a:noFill/>
          </a:ln>
        </p:spPr>
        <p:txBody>
          <a:bodyPr wrap="square" lIns="0" tIns="0" rIns="0" bIns="0" anchor="ctr">
            <a:noAutofit/>
          </a:bodyPr>
          <a:lstStyle/>
          <a:p>
            <a:pPr algn="l">
              <a:defRPr sz="4425" b="1">
                <a:solidFill>
                  <a:srgbClr val="FFFFFF"/>
                </a:solidFill>
                <a:latin typeface="Arial"/>
                <a:ea typeface="Arial"/>
                <a:cs typeface="Arial"/>
              </a:defRPr>
            </a:pPr>
            <a:r>
              <a:rPr sz="4425" b="1">
                <a:solidFill>
                  <a:srgbClr val="FFFFFF"/>
                </a:solidFill>
                <a:latin typeface="Arial"/>
                <a:ea typeface="Arial"/>
                <a:cs typeface="Arial"/>
              </a:rPr>
              <a:t>Từ ảnh/PDF đến văn bản đã xác nhận</a:t>
            </a:r>
          </a:p>
        </p:txBody>
      </p:sp>
      <p:sp>
        <p:nvSpPr>
          <p:cNvPr id="4" name="caption-left">
            <a:extLst>
              <a:ext uri="{FF2B5EF4-FFF2-40B4-BE49-F238E27FC236}">
                <a16:creationId xmlns:a16="http://schemas.microsoft.com/office/drawing/2014/main" id="{6717E1D7-4A5C-4796-BEC8-28271A55810F}"/>
              </a:ext>
            </a:extLst>
          </p:cNvPr>
          <p:cNvSpPr>
            <a:spLocks noGrp="1"/>
          </p:cNvSpPr>
          <p:nvPr/>
        </p:nvSpPr>
        <p:spPr>
          <a:xfrm>
            <a:off x="1524000" y="2143125"/>
            <a:ext cx="8572500" cy="523875"/>
          </a:xfrm>
          <a:prstGeom prst="rect">
            <a:avLst/>
          </a:prstGeom>
          <a:noFill/>
          <a:ln w="0">
            <a:noFill/>
          </a:ln>
        </p:spPr>
        <p:txBody>
          <a:bodyPr wrap="square" lIns="0" tIns="0" rIns="0" bIns="0" anchor="ctr">
            <a:noAutofit/>
          </a:bodyPr>
          <a:lstStyle/>
          <a:p>
            <a:pPr algn="l">
              <a:defRPr sz="2325" b="1">
                <a:solidFill>
                  <a:srgbClr val="84E3EA"/>
                </a:solidFill>
                <a:latin typeface="Arial"/>
                <a:ea typeface="Arial"/>
                <a:cs typeface="Arial"/>
              </a:defRPr>
            </a:pPr>
            <a:r>
              <a:rPr sz="2325" b="1">
                <a:solidFill>
                  <a:srgbClr val="84E3EA"/>
                </a:solidFill>
                <a:latin typeface="Arial"/>
                <a:ea typeface="Arial"/>
                <a:cs typeface="Arial"/>
              </a:rPr>
              <a:t>CHỌN TRANG, CẮT / XOAY</a:t>
            </a:r>
          </a:p>
        </p:txBody>
      </p:sp>
      <p:sp>
        <p:nvSpPr>
          <p:cNvPr id="5" name="caption-right">
            <a:extLst>
              <a:ext uri="{FF2B5EF4-FFF2-40B4-BE49-F238E27FC236}">
                <a16:creationId xmlns:a16="http://schemas.microsoft.com/office/drawing/2014/main" id="{85F292E3-8DAA-4FE7-BC65-845EFEC07A62}"/>
              </a:ext>
            </a:extLst>
          </p:cNvPr>
          <p:cNvSpPr>
            <a:spLocks noGrp="1"/>
          </p:cNvSpPr>
          <p:nvPr/>
        </p:nvSpPr>
        <p:spPr>
          <a:xfrm>
            <a:off x="10858500" y="2143125"/>
            <a:ext cx="6381750" cy="523875"/>
          </a:xfrm>
          <a:prstGeom prst="rect">
            <a:avLst/>
          </a:prstGeom>
          <a:noFill/>
          <a:ln w="0">
            <a:noFill/>
          </a:ln>
        </p:spPr>
        <p:txBody>
          <a:bodyPr wrap="square" lIns="0" tIns="0" rIns="0" bIns="0" anchor="ctr">
            <a:noAutofit/>
          </a:bodyPr>
          <a:lstStyle/>
          <a:p>
            <a:pPr algn="l">
              <a:defRPr sz="2325" b="1">
                <a:solidFill>
                  <a:srgbClr val="84E3EA"/>
                </a:solidFill>
                <a:latin typeface="Arial"/>
                <a:ea typeface="Arial"/>
                <a:cs typeface="Arial"/>
              </a:defRPr>
            </a:pPr>
            <a:r>
              <a:rPr sz="2325" b="1">
                <a:solidFill>
                  <a:srgbClr val="84E3EA"/>
                </a:solidFill>
                <a:latin typeface="Arial"/>
                <a:ea typeface="Arial"/>
                <a:cs typeface="Arial"/>
              </a:rPr>
              <a:t>OCR, ĐỐI CHIẾU VÀ SỬA</a:t>
            </a:r>
          </a:p>
        </p:txBody>
      </p:sp>
      <p:pic>
        <p:nvPicPr>
          <p:cNvPr id="13" name="Picture 12"/>
          <p:cNvPicPr>
            <a:picLocks noChangeAspect="1"/>
          </p:cNvPicPr>
          <p:nvPr/>
        </p:nvPicPr>
        <p:blipFill>
          <a:blip r:embed="rId4"/>
          <a:stretch/>
        </p:blipFill>
        <p:spPr>
          <a:xfrm>
            <a:off x="1595810" y="2762250"/>
            <a:ext cx="8524130" cy="6381750"/>
          </a:xfrm>
          <a:prstGeom prst="rect">
            <a:avLst/>
          </a:prstGeom>
        </p:spPr>
      </p:pic>
      <p:pic>
        <p:nvPicPr>
          <p:cNvPr id="14" name="Picture 13"/>
          <p:cNvPicPr>
            <a:picLocks noChangeAspect="1"/>
          </p:cNvPicPr>
          <p:nvPr/>
        </p:nvPicPr>
        <p:blipFill>
          <a:blip r:embed="rId5"/>
          <a:stretch/>
        </p:blipFill>
        <p:spPr>
          <a:xfrm>
            <a:off x="11066964" y="2762250"/>
            <a:ext cx="5821947" cy="6381750"/>
          </a:xfrm>
          <a:prstGeom prst="rect">
            <a:avLst/>
          </a:prstGeom>
        </p:spPr>
      </p:pic>
    </p:spTree>
    <p:extLst>
      <p:ext uri="{BB962C8B-B14F-4D97-AF65-F5344CB8AC3E}">
        <p14:creationId xmlns:p14="http://schemas.microsoft.com/office/powerpoint/2010/main" val="16628488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91E26"/>
        </a:solidFill>
        <a:effectLst/>
      </p:bgPr>
    </p:bg>
    <p:spTree>
      <p:nvGrpSpPr>
        <p:cNvPr id="1" name=""/>
        <p:cNvGrpSpPr/>
        <p:nvPr/>
      </p:nvGrpSpPr>
      <p:grpSpPr>
        <a:xfrm>
          <a:off x="0" y="0"/>
          <a:ext cx="0" cy="0"/>
          <a:chOff x="0" y="0"/>
          <a:chExt cx="0" cy="0"/>
        </a:xfrm>
      </p:grpSpPr>
      <p:pic>
        <p:nvPicPr>
          <p:cNvPr id="12" name="Picture 11"/>
          <p:cNvPicPr>
            <a:picLocks noChangeAspect="1"/>
          </p:cNvPicPr>
          <p:nvPr/>
        </p:nvPicPr>
        <p:blipFill>
          <a:blip r:embed="rId3"/>
          <a:srcRect t="21875" b="21875"/>
          <a:stretch>
            <a:fillRect/>
          </a:stretch>
        </p:blipFill>
        <p:spPr>
          <a:xfrm>
            <a:off x="0" y="0"/>
            <a:ext cx="18288000" cy="10287000"/>
          </a:xfrm>
          <a:prstGeom prst="rect">
            <a:avLst/>
          </a:prstGeom>
        </p:spPr>
      </p:pic>
      <p:sp>
        <p:nvSpPr>
          <p:cNvPr id="2" name="slide-number">
            <a:extLst>
              <a:ext uri="{FF2B5EF4-FFF2-40B4-BE49-F238E27FC236}">
                <a16:creationId xmlns:a16="http://schemas.microsoft.com/office/drawing/2014/main" id="{DDAECF57-9723-4DFE-903D-DB8090257BA9}"/>
              </a:ext>
            </a:extLst>
          </p:cNvPr>
          <p:cNvSpPr>
            <a:spLocks noGrp="1"/>
          </p:cNvSpPr>
          <p:nvPr/>
        </p:nvSpPr>
        <p:spPr>
          <a:xfrm>
            <a:off x="1238250" y="495300"/>
            <a:ext cx="952500" cy="457200"/>
          </a:xfrm>
          <a:prstGeom prst="rect">
            <a:avLst/>
          </a:prstGeom>
          <a:noFill/>
          <a:ln w="0">
            <a:noFill/>
          </a:ln>
        </p:spPr>
        <p:txBody>
          <a:bodyPr wrap="square" lIns="0" tIns="0" rIns="0" bIns="0" anchor="ctr">
            <a:noAutofit/>
          </a:bodyPr>
          <a:lstStyle/>
          <a:p>
            <a:pPr algn="l">
              <a:defRPr sz="2025" b="1">
                <a:solidFill>
                  <a:srgbClr val="84E3EA"/>
                </a:solidFill>
                <a:latin typeface="Arial"/>
                <a:ea typeface="Arial"/>
                <a:cs typeface="Arial"/>
              </a:defRPr>
            </a:pPr>
            <a:r>
              <a:rPr sz="2025" b="1">
                <a:solidFill>
                  <a:srgbClr val="84E3EA"/>
                </a:solidFill>
                <a:latin typeface="Arial"/>
                <a:ea typeface="Arial"/>
                <a:cs typeface="Arial"/>
              </a:rPr>
              <a:t>06</a:t>
            </a:r>
          </a:p>
        </p:txBody>
      </p:sp>
      <p:sp>
        <p:nvSpPr>
          <p:cNvPr id="3" name="title">
            <a:extLst>
              <a:ext uri="{FF2B5EF4-FFF2-40B4-BE49-F238E27FC236}">
                <a16:creationId xmlns:a16="http://schemas.microsoft.com/office/drawing/2014/main" id="{08FB2322-D489-406D-8792-D59B55759565}"/>
              </a:ext>
            </a:extLst>
          </p:cNvPr>
          <p:cNvSpPr>
            <a:spLocks noGrp="1"/>
          </p:cNvSpPr>
          <p:nvPr/>
        </p:nvSpPr>
        <p:spPr>
          <a:xfrm>
            <a:off x="1238250" y="990600"/>
            <a:ext cx="15716250" cy="990600"/>
          </a:xfrm>
          <a:prstGeom prst="rect">
            <a:avLst/>
          </a:prstGeom>
          <a:noFill/>
          <a:ln w="0">
            <a:noFill/>
          </a:ln>
        </p:spPr>
        <p:txBody>
          <a:bodyPr wrap="square" lIns="0" tIns="0" rIns="0" bIns="0" anchor="ctr">
            <a:noAutofit/>
          </a:bodyPr>
          <a:lstStyle/>
          <a:p>
            <a:pPr algn="l">
              <a:defRPr sz="4425" b="1">
                <a:solidFill>
                  <a:srgbClr val="FFFFFF"/>
                </a:solidFill>
                <a:latin typeface="Arial"/>
                <a:ea typeface="Arial"/>
                <a:cs typeface="Arial"/>
              </a:defRPr>
            </a:pPr>
            <a:r>
              <a:rPr sz="4425" b="1">
                <a:solidFill>
                  <a:srgbClr val="FFFFFF"/>
                </a:solidFill>
                <a:latin typeface="Arial"/>
                <a:ea typeface="Arial"/>
                <a:cs typeface="Arial"/>
              </a:rPr>
              <a:t>AI đề xuất, người học quyết định thẻ nào được lưu</a:t>
            </a:r>
          </a:p>
        </p:txBody>
      </p:sp>
      <p:sp>
        <p:nvSpPr>
          <p:cNvPr id="4" name="ai-step-1">
            <a:extLst>
              <a:ext uri="{FF2B5EF4-FFF2-40B4-BE49-F238E27FC236}">
                <a16:creationId xmlns:a16="http://schemas.microsoft.com/office/drawing/2014/main" id="{B8D73014-2521-4164-85A2-D621F207CAD6}"/>
              </a:ext>
            </a:extLst>
          </p:cNvPr>
          <p:cNvSpPr>
            <a:spLocks noGrp="1"/>
          </p:cNvSpPr>
          <p:nvPr/>
        </p:nvSpPr>
        <p:spPr>
          <a:xfrm>
            <a:off x="1285875" y="2762250"/>
            <a:ext cx="7239000" cy="666750"/>
          </a:xfrm>
          <a:prstGeom prst="rect">
            <a:avLst/>
          </a:prstGeom>
          <a:noFill/>
          <a:ln w="0">
            <a:noFill/>
          </a:ln>
        </p:spPr>
        <p:txBody>
          <a:bodyPr wrap="square" lIns="0" tIns="0" rIns="0" bIns="0" anchor="ctr">
            <a:noAutofit/>
          </a:bodyPr>
          <a:lstStyle/>
          <a:p>
            <a:pPr algn="l">
              <a:defRPr sz="2775" b="1">
                <a:solidFill>
                  <a:srgbClr val="FFFFFF"/>
                </a:solidFill>
                <a:latin typeface="Arial"/>
                <a:ea typeface="Arial"/>
                <a:cs typeface="Arial"/>
              </a:defRPr>
            </a:pPr>
            <a:r>
              <a:rPr sz="2775" b="1">
                <a:solidFill>
                  <a:srgbClr val="FFFFFF"/>
                </a:solidFill>
                <a:latin typeface="Arial"/>
                <a:ea typeface="Arial"/>
                <a:cs typeface="Arial"/>
              </a:rPr>
              <a:t>1. Chọn dạng thẻ và đoạn nguồn</a:t>
            </a:r>
          </a:p>
        </p:txBody>
      </p:sp>
      <p:sp>
        <p:nvSpPr>
          <p:cNvPr id="5" name="ai-detail-1">
            <a:extLst>
              <a:ext uri="{FF2B5EF4-FFF2-40B4-BE49-F238E27FC236}">
                <a16:creationId xmlns:a16="http://schemas.microsoft.com/office/drawing/2014/main" id="{EBE3A31C-9A2F-4541-B348-FDBC56E42AB0}"/>
              </a:ext>
            </a:extLst>
          </p:cNvPr>
          <p:cNvSpPr>
            <a:spLocks noGrp="1"/>
          </p:cNvSpPr>
          <p:nvPr/>
        </p:nvSpPr>
        <p:spPr>
          <a:xfrm>
            <a:off x="1285875" y="3476625"/>
            <a:ext cx="7239000" cy="552450"/>
          </a:xfrm>
          <a:prstGeom prst="rect">
            <a:avLst/>
          </a:prstGeom>
          <a:noFill/>
          <a:ln w="0">
            <a:noFill/>
          </a:ln>
        </p:spPr>
        <p:txBody>
          <a:bodyPr wrap="square" lIns="0" tIns="0" rIns="0" bIns="0" anchor="ctr">
            <a:noAutofit/>
          </a:bodyPr>
          <a:lstStyle/>
          <a:p>
            <a:pPr algn="l">
              <a:defRPr sz="2325" b="0">
                <a:solidFill>
                  <a:srgbClr val="D5E8EC"/>
                </a:solidFill>
                <a:latin typeface="Arial"/>
                <a:ea typeface="Arial"/>
                <a:cs typeface="Arial"/>
              </a:defRPr>
            </a:pPr>
            <a:r>
              <a:rPr sz="2325" b="0">
                <a:solidFill>
                  <a:srgbClr val="D5E8EC"/>
                </a:solidFill>
                <a:latin typeface="Arial"/>
                <a:ea typeface="Arial"/>
                <a:cs typeface="Arial"/>
              </a:rPr>
              <a:t>BASIC, CLOZE hoặc MCQ</a:t>
            </a:r>
          </a:p>
        </p:txBody>
      </p:sp>
      <p:sp>
        <p:nvSpPr>
          <p:cNvPr id="6" name="ai-step-2">
            <a:extLst>
              <a:ext uri="{FF2B5EF4-FFF2-40B4-BE49-F238E27FC236}">
                <a16:creationId xmlns:a16="http://schemas.microsoft.com/office/drawing/2014/main" id="{16CC2605-8AF1-4C6D-9766-1299A3974482}"/>
              </a:ext>
            </a:extLst>
          </p:cNvPr>
          <p:cNvSpPr>
            <a:spLocks noGrp="1"/>
          </p:cNvSpPr>
          <p:nvPr/>
        </p:nvSpPr>
        <p:spPr>
          <a:xfrm>
            <a:off x="1285875" y="4667250"/>
            <a:ext cx="7239000" cy="666750"/>
          </a:xfrm>
          <a:prstGeom prst="rect">
            <a:avLst/>
          </a:prstGeom>
          <a:noFill/>
          <a:ln w="0">
            <a:noFill/>
          </a:ln>
        </p:spPr>
        <p:txBody>
          <a:bodyPr wrap="square" lIns="0" tIns="0" rIns="0" bIns="0" anchor="ctr">
            <a:noAutofit/>
          </a:bodyPr>
          <a:lstStyle/>
          <a:p>
            <a:pPr algn="l">
              <a:defRPr sz="2775" b="1">
                <a:solidFill>
                  <a:srgbClr val="FFFFFF"/>
                </a:solidFill>
                <a:latin typeface="Arial"/>
                <a:ea typeface="Arial"/>
                <a:cs typeface="Arial"/>
              </a:defRPr>
            </a:pPr>
            <a:r>
              <a:rPr sz="2775" b="1">
                <a:solidFill>
                  <a:srgbClr val="FFFFFF"/>
                </a:solidFill>
                <a:latin typeface="Arial"/>
                <a:ea typeface="Arial"/>
                <a:cs typeface="Arial"/>
              </a:rPr>
              <a:t>2. Kiểm tra câu hỏi và đáp án</a:t>
            </a:r>
          </a:p>
        </p:txBody>
      </p:sp>
      <p:sp>
        <p:nvSpPr>
          <p:cNvPr id="7" name="ai-detail-2">
            <a:extLst>
              <a:ext uri="{FF2B5EF4-FFF2-40B4-BE49-F238E27FC236}">
                <a16:creationId xmlns:a16="http://schemas.microsoft.com/office/drawing/2014/main" id="{173431E4-292C-43A8-B1DB-881E346E6362}"/>
              </a:ext>
            </a:extLst>
          </p:cNvPr>
          <p:cNvSpPr>
            <a:spLocks noGrp="1"/>
          </p:cNvSpPr>
          <p:nvPr/>
        </p:nvSpPr>
        <p:spPr>
          <a:xfrm>
            <a:off x="1285875" y="5381625"/>
            <a:ext cx="7239000" cy="552450"/>
          </a:xfrm>
          <a:prstGeom prst="rect">
            <a:avLst/>
          </a:prstGeom>
          <a:noFill/>
          <a:ln w="0">
            <a:noFill/>
          </a:ln>
        </p:spPr>
        <p:txBody>
          <a:bodyPr wrap="square" lIns="0" tIns="0" rIns="0" bIns="0" anchor="ctr">
            <a:noAutofit/>
          </a:bodyPr>
          <a:lstStyle/>
          <a:p>
            <a:pPr algn="l">
              <a:defRPr sz="2325" b="0">
                <a:solidFill>
                  <a:srgbClr val="D5E8EC"/>
                </a:solidFill>
                <a:latin typeface="Arial"/>
                <a:ea typeface="Arial"/>
                <a:cs typeface="Arial"/>
              </a:defRPr>
            </a:pPr>
            <a:r>
              <a:rPr sz="2325" b="0">
                <a:solidFill>
                  <a:srgbClr val="D5E8EC"/>
                </a:solidFill>
                <a:latin typeface="Arial"/>
                <a:ea typeface="Arial"/>
                <a:cs typeface="Arial"/>
              </a:rPr>
              <a:t>Sửa hoặc loại kết quả chưa phù hợp</a:t>
            </a:r>
          </a:p>
        </p:txBody>
      </p:sp>
      <p:sp>
        <p:nvSpPr>
          <p:cNvPr id="8" name="ai-step-3">
            <a:extLst>
              <a:ext uri="{FF2B5EF4-FFF2-40B4-BE49-F238E27FC236}">
                <a16:creationId xmlns:a16="http://schemas.microsoft.com/office/drawing/2014/main" id="{742F17F9-D423-4B66-B867-7E7CF6283D1E}"/>
              </a:ext>
            </a:extLst>
          </p:cNvPr>
          <p:cNvSpPr>
            <a:spLocks noGrp="1"/>
          </p:cNvSpPr>
          <p:nvPr/>
        </p:nvSpPr>
        <p:spPr>
          <a:xfrm>
            <a:off x="1285875" y="6572250"/>
            <a:ext cx="7239000" cy="666750"/>
          </a:xfrm>
          <a:prstGeom prst="rect">
            <a:avLst/>
          </a:prstGeom>
          <a:noFill/>
          <a:ln w="0">
            <a:noFill/>
          </a:ln>
        </p:spPr>
        <p:txBody>
          <a:bodyPr wrap="square" lIns="0" tIns="0" rIns="0" bIns="0" anchor="ctr">
            <a:noAutofit/>
          </a:bodyPr>
          <a:lstStyle/>
          <a:p>
            <a:pPr algn="l">
              <a:defRPr sz="2775" b="1">
                <a:solidFill>
                  <a:srgbClr val="FFFFFF"/>
                </a:solidFill>
                <a:latin typeface="Arial"/>
                <a:ea typeface="Arial"/>
                <a:cs typeface="Arial"/>
              </a:defRPr>
            </a:pPr>
            <a:r>
              <a:rPr sz="2775" b="1">
                <a:solidFill>
                  <a:srgbClr val="FFFFFF"/>
                </a:solidFill>
                <a:latin typeface="Arial"/>
                <a:ea typeface="Arial"/>
                <a:cs typeface="Arial"/>
              </a:rPr>
              <a:t>3. Mở trang nguồn để đối chiếu</a:t>
            </a:r>
          </a:p>
        </p:txBody>
      </p:sp>
      <p:sp>
        <p:nvSpPr>
          <p:cNvPr id="9" name="ai-detail-3">
            <a:extLst>
              <a:ext uri="{FF2B5EF4-FFF2-40B4-BE49-F238E27FC236}">
                <a16:creationId xmlns:a16="http://schemas.microsoft.com/office/drawing/2014/main" id="{DB3AD63D-1950-4C87-B55E-3595B867F3CD}"/>
              </a:ext>
            </a:extLst>
          </p:cNvPr>
          <p:cNvSpPr>
            <a:spLocks noGrp="1"/>
          </p:cNvSpPr>
          <p:nvPr/>
        </p:nvSpPr>
        <p:spPr>
          <a:xfrm>
            <a:off x="1285875" y="7286625"/>
            <a:ext cx="7239000" cy="552450"/>
          </a:xfrm>
          <a:prstGeom prst="rect">
            <a:avLst/>
          </a:prstGeom>
          <a:noFill/>
          <a:ln w="0">
            <a:noFill/>
          </a:ln>
        </p:spPr>
        <p:txBody>
          <a:bodyPr wrap="square" lIns="0" tIns="0" rIns="0" bIns="0" anchor="ctr">
            <a:noAutofit/>
          </a:bodyPr>
          <a:lstStyle/>
          <a:p>
            <a:pPr algn="l">
              <a:defRPr sz="2325" b="0">
                <a:solidFill>
                  <a:srgbClr val="D5E8EC"/>
                </a:solidFill>
                <a:latin typeface="Arial"/>
                <a:ea typeface="Arial"/>
                <a:cs typeface="Arial"/>
              </a:defRPr>
            </a:pPr>
            <a:r>
              <a:rPr sz="2325" b="0">
                <a:solidFill>
                  <a:srgbClr val="D5E8EC"/>
                </a:solidFill>
                <a:latin typeface="Arial"/>
                <a:ea typeface="Arial"/>
                <a:cs typeface="Arial"/>
              </a:rPr>
              <a:t>Chỉ thẻ được duyệt mới lưu vào deck</a:t>
            </a:r>
          </a:p>
        </p:txBody>
      </p:sp>
      <p:pic>
        <p:nvPicPr>
          <p:cNvPr id="21" name="Picture 20"/>
          <p:cNvPicPr>
            <a:picLocks noChangeAspect="1"/>
          </p:cNvPicPr>
          <p:nvPr/>
        </p:nvPicPr>
        <p:blipFill>
          <a:blip r:embed="rId4"/>
          <a:stretch/>
        </p:blipFill>
        <p:spPr>
          <a:xfrm>
            <a:off x="9336332" y="2333625"/>
            <a:ext cx="3187212" cy="6905625"/>
          </a:xfrm>
          <a:prstGeom prst="rect">
            <a:avLst/>
          </a:prstGeom>
        </p:spPr>
      </p:pic>
      <p:pic>
        <p:nvPicPr>
          <p:cNvPr id="22" name="Picture 21"/>
          <p:cNvPicPr>
            <a:picLocks noChangeAspect="1"/>
          </p:cNvPicPr>
          <p:nvPr/>
        </p:nvPicPr>
        <p:blipFill>
          <a:blip r:embed="rId5"/>
          <a:stretch/>
        </p:blipFill>
        <p:spPr>
          <a:xfrm>
            <a:off x="13462000" y="2333625"/>
            <a:ext cx="3222625" cy="6905625"/>
          </a:xfrm>
          <a:prstGeom prst="rect">
            <a:avLst/>
          </a:prstGeom>
        </p:spPr>
      </p:pic>
    </p:spTree>
    <p:extLst>
      <p:ext uri="{BB962C8B-B14F-4D97-AF65-F5344CB8AC3E}">
        <p14:creationId xmlns:p14="http://schemas.microsoft.com/office/powerpoint/2010/main" val="14026390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91E26"/>
        </a:solidFill>
        <a:effectLst/>
      </p:bgPr>
    </p:bg>
    <p:spTree>
      <p:nvGrpSpPr>
        <p:cNvPr id="1" name=""/>
        <p:cNvGrpSpPr/>
        <p:nvPr/>
      </p:nvGrpSpPr>
      <p:grpSpPr>
        <a:xfrm>
          <a:off x="0" y="0"/>
          <a:ext cx="0" cy="0"/>
          <a:chOff x="0" y="0"/>
          <a:chExt cx="0" cy="0"/>
        </a:xfrm>
      </p:grpSpPr>
      <p:pic>
        <p:nvPicPr>
          <p:cNvPr id="10" name="Picture 9"/>
          <p:cNvPicPr>
            <a:picLocks noChangeAspect="1"/>
          </p:cNvPicPr>
          <p:nvPr/>
        </p:nvPicPr>
        <p:blipFill>
          <a:blip r:embed="rId3"/>
          <a:srcRect t="21875" b="21875"/>
          <a:stretch>
            <a:fillRect/>
          </a:stretch>
        </p:blipFill>
        <p:spPr>
          <a:xfrm>
            <a:off x="0" y="0"/>
            <a:ext cx="18288000" cy="10287000"/>
          </a:xfrm>
          <a:prstGeom prst="rect">
            <a:avLst/>
          </a:prstGeom>
        </p:spPr>
      </p:pic>
      <p:sp>
        <p:nvSpPr>
          <p:cNvPr id="2" name="slide-number">
            <a:extLst>
              <a:ext uri="{FF2B5EF4-FFF2-40B4-BE49-F238E27FC236}">
                <a16:creationId xmlns:a16="http://schemas.microsoft.com/office/drawing/2014/main" id="{1C754880-1FEE-4638-BC76-9B0B0CFA89C2}"/>
              </a:ext>
            </a:extLst>
          </p:cNvPr>
          <p:cNvSpPr>
            <a:spLocks noGrp="1"/>
          </p:cNvSpPr>
          <p:nvPr/>
        </p:nvSpPr>
        <p:spPr>
          <a:xfrm>
            <a:off x="1238250" y="495300"/>
            <a:ext cx="952500" cy="457200"/>
          </a:xfrm>
          <a:prstGeom prst="rect">
            <a:avLst/>
          </a:prstGeom>
          <a:noFill/>
          <a:ln w="0">
            <a:noFill/>
          </a:ln>
        </p:spPr>
        <p:txBody>
          <a:bodyPr wrap="square" lIns="0" tIns="0" rIns="0" bIns="0" anchor="ctr">
            <a:noAutofit/>
          </a:bodyPr>
          <a:lstStyle/>
          <a:p>
            <a:pPr algn="l">
              <a:defRPr sz="2025" b="1">
                <a:solidFill>
                  <a:srgbClr val="84E3EA"/>
                </a:solidFill>
                <a:latin typeface="Arial"/>
                <a:ea typeface="Arial"/>
                <a:cs typeface="Arial"/>
              </a:defRPr>
            </a:pPr>
            <a:r>
              <a:rPr sz="2025" b="1">
                <a:solidFill>
                  <a:srgbClr val="84E3EA"/>
                </a:solidFill>
                <a:latin typeface="Arial"/>
                <a:ea typeface="Arial"/>
                <a:cs typeface="Arial"/>
              </a:rPr>
              <a:t>07</a:t>
            </a:r>
          </a:p>
        </p:txBody>
      </p:sp>
      <p:sp>
        <p:nvSpPr>
          <p:cNvPr id="3" name="title">
            <a:extLst>
              <a:ext uri="{FF2B5EF4-FFF2-40B4-BE49-F238E27FC236}">
                <a16:creationId xmlns:a16="http://schemas.microsoft.com/office/drawing/2014/main" id="{63BFCC85-0596-47C0-8668-DEA05A942A33}"/>
              </a:ext>
            </a:extLst>
          </p:cNvPr>
          <p:cNvSpPr>
            <a:spLocks noGrp="1"/>
          </p:cNvSpPr>
          <p:nvPr/>
        </p:nvSpPr>
        <p:spPr>
          <a:xfrm>
            <a:off x="1238250" y="990600"/>
            <a:ext cx="15716250" cy="990600"/>
          </a:xfrm>
          <a:prstGeom prst="rect">
            <a:avLst/>
          </a:prstGeom>
          <a:noFill/>
          <a:ln w="0">
            <a:noFill/>
          </a:ln>
        </p:spPr>
        <p:txBody>
          <a:bodyPr wrap="square" lIns="0" tIns="0" rIns="0" bIns="0" anchor="ctr">
            <a:noAutofit/>
          </a:bodyPr>
          <a:lstStyle/>
          <a:p>
            <a:pPr algn="l">
              <a:defRPr sz="4425" b="1">
                <a:solidFill>
                  <a:srgbClr val="FFFFFF"/>
                </a:solidFill>
                <a:latin typeface="Arial"/>
                <a:ea typeface="Arial"/>
                <a:cs typeface="Arial"/>
              </a:defRPr>
            </a:pPr>
            <a:r>
              <a:rPr sz="4425" b="1">
                <a:solidFill>
                  <a:srgbClr val="FFFFFF"/>
                </a:solidFill>
                <a:latin typeface="Arial"/>
                <a:ea typeface="Arial"/>
                <a:cs typeface="Arial"/>
              </a:rPr>
              <a:t>Ôn thẻ và lập lịch theo phản hồi</a:t>
            </a:r>
          </a:p>
        </p:txBody>
      </p:sp>
      <p:sp>
        <p:nvSpPr>
          <p:cNvPr id="4" name="review-flow">
            <a:extLst>
              <a:ext uri="{FF2B5EF4-FFF2-40B4-BE49-F238E27FC236}">
                <a16:creationId xmlns:a16="http://schemas.microsoft.com/office/drawing/2014/main" id="{DBC2DF69-9B85-4C2A-85C2-639B9F27CABB}"/>
              </a:ext>
            </a:extLst>
          </p:cNvPr>
          <p:cNvSpPr>
            <a:spLocks noGrp="1"/>
          </p:cNvSpPr>
          <p:nvPr/>
        </p:nvSpPr>
        <p:spPr>
          <a:xfrm>
            <a:off x="1285875" y="2857500"/>
            <a:ext cx="5810250" cy="952500"/>
          </a:xfrm>
          <a:prstGeom prst="rect">
            <a:avLst/>
          </a:prstGeom>
          <a:noFill/>
          <a:ln w="0">
            <a:noFill/>
          </a:ln>
        </p:spPr>
        <p:txBody>
          <a:bodyPr wrap="square" lIns="0" tIns="0" rIns="0" bIns="0" anchor="ctr">
            <a:noAutofit/>
          </a:bodyPr>
          <a:lstStyle/>
          <a:p>
            <a:pPr algn="l">
              <a:defRPr sz="2925" b="1">
                <a:solidFill>
                  <a:srgbClr val="FFFFFF"/>
                </a:solidFill>
                <a:latin typeface="Arial"/>
                <a:ea typeface="Arial"/>
                <a:cs typeface="Arial"/>
              </a:defRPr>
            </a:pPr>
            <a:r>
              <a:rPr sz="2925" b="1">
                <a:solidFill>
                  <a:srgbClr val="FFFFFF"/>
                </a:solidFill>
                <a:latin typeface="Arial"/>
                <a:ea typeface="Arial"/>
                <a:cs typeface="Arial"/>
              </a:rPr>
              <a:t>Nhìn câu hỏi → tự nhớ → lật thẻ</a:t>
            </a:r>
          </a:p>
        </p:txBody>
      </p:sp>
      <p:sp>
        <p:nvSpPr>
          <p:cNvPr id="5" name="review-rating">
            <a:extLst>
              <a:ext uri="{FF2B5EF4-FFF2-40B4-BE49-F238E27FC236}">
                <a16:creationId xmlns:a16="http://schemas.microsoft.com/office/drawing/2014/main" id="{EB4C4E94-4791-458C-B009-71494BDD0E0F}"/>
              </a:ext>
            </a:extLst>
          </p:cNvPr>
          <p:cNvSpPr>
            <a:spLocks noGrp="1"/>
          </p:cNvSpPr>
          <p:nvPr/>
        </p:nvSpPr>
        <p:spPr>
          <a:xfrm>
            <a:off x="1285875" y="4333875"/>
            <a:ext cx="5810250" cy="1095375"/>
          </a:xfrm>
          <a:prstGeom prst="rect">
            <a:avLst/>
          </a:prstGeom>
          <a:noFill/>
          <a:ln w="0">
            <a:noFill/>
          </a:ln>
        </p:spPr>
        <p:txBody>
          <a:bodyPr wrap="square" lIns="0" tIns="0" rIns="0" bIns="0" anchor="ctr">
            <a:noAutofit/>
          </a:bodyPr>
          <a:lstStyle/>
          <a:p>
            <a:pPr algn="l">
              <a:defRPr sz="2625" b="0">
                <a:solidFill>
                  <a:srgbClr val="D5E8EC"/>
                </a:solidFill>
                <a:latin typeface="Arial"/>
                <a:ea typeface="Arial"/>
                <a:cs typeface="Arial"/>
              </a:defRPr>
            </a:pPr>
            <a:r>
              <a:rPr sz="2625" b="0">
                <a:solidFill>
                  <a:srgbClr val="D5E8EC"/>
                </a:solidFill>
                <a:latin typeface="Arial"/>
                <a:ea typeface="Arial"/>
                <a:cs typeface="Arial"/>
              </a:rPr>
              <a:t>Chọn Again, Hard, Good hoặc Easy</a:t>
            </a:r>
          </a:p>
        </p:txBody>
      </p:sp>
      <p:sp>
        <p:nvSpPr>
          <p:cNvPr id="6" name="sm2-label">
            <a:extLst>
              <a:ext uri="{FF2B5EF4-FFF2-40B4-BE49-F238E27FC236}">
                <a16:creationId xmlns:a16="http://schemas.microsoft.com/office/drawing/2014/main" id="{F31AA7B9-98B8-4A24-9ADD-F36649D766EC}"/>
              </a:ext>
            </a:extLst>
          </p:cNvPr>
          <p:cNvSpPr>
            <a:spLocks noGrp="1"/>
          </p:cNvSpPr>
          <p:nvPr/>
        </p:nvSpPr>
        <p:spPr>
          <a:xfrm>
            <a:off x="1285875" y="6048375"/>
            <a:ext cx="5810250" cy="571500"/>
          </a:xfrm>
          <a:prstGeom prst="rect">
            <a:avLst/>
          </a:prstGeom>
          <a:noFill/>
          <a:ln w="0">
            <a:noFill/>
          </a:ln>
        </p:spPr>
        <p:txBody>
          <a:bodyPr wrap="square" lIns="0" tIns="0" rIns="0" bIns="0" anchor="ctr">
            <a:noAutofit/>
          </a:bodyPr>
          <a:lstStyle/>
          <a:p>
            <a:pPr algn="l">
              <a:defRPr sz="2325" b="1">
                <a:solidFill>
                  <a:srgbClr val="84E3EA"/>
                </a:solidFill>
                <a:latin typeface="Arial"/>
                <a:ea typeface="Arial"/>
                <a:cs typeface="Arial"/>
              </a:defRPr>
            </a:pPr>
            <a:r>
              <a:rPr sz="2325" b="1">
                <a:solidFill>
                  <a:srgbClr val="84E3EA"/>
                </a:solidFill>
                <a:latin typeface="Arial"/>
                <a:ea typeface="Arial"/>
                <a:cs typeface="Arial"/>
              </a:rPr>
              <a:t>Ví dụ trong báo cáo</a:t>
            </a:r>
          </a:p>
        </p:txBody>
      </p:sp>
      <p:sp>
        <p:nvSpPr>
          <p:cNvPr id="7" name="sm2-interval">
            <a:extLst>
              <a:ext uri="{FF2B5EF4-FFF2-40B4-BE49-F238E27FC236}">
                <a16:creationId xmlns:a16="http://schemas.microsoft.com/office/drawing/2014/main" id="{2122134C-03F1-4247-875B-B92694FE23BE}"/>
              </a:ext>
            </a:extLst>
          </p:cNvPr>
          <p:cNvSpPr>
            <a:spLocks noGrp="1"/>
          </p:cNvSpPr>
          <p:nvPr/>
        </p:nvSpPr>
        <p:spPr>
          <a:xfrm>
            <a:off x="1285875" y="6762750"/>
            <a:ext cx="6096000" cy="1143000"/>
          </a:xfrm>
          <a:prstGeom prst="rect">
            <a:avLst/>
          </a:prstGeom>
          <a:noFill/>
          <a:ln w="0">
            <a:noFill/>
          </a:ln>
        </p:spPr>
        <p:txBody>
          <a:bodyPr wrap="square" lIns="0" tIns="0" rIns="0" bIns="0" anchor="ctr">
            <a:noAutofit/>
          </a:bodyPr>
          <a:lstStyle/>
          <a:p>
            <a:pPr algn="l">
              <a:defRPr sz="3225" b="1">
                <a:solidFill>
                  <a:srgbClr val="FFFFFF"/>
                </a:solidFill>
                <a:latin typeface="Arial"/>
                <a:ea typeface="Arial"/>
                <a:cs typeface="Arial"/>
              </a:defRPr>
            </a:pPr>
            <a:r>
              <a:rPr sz="3225" b="1">
                <a:solidFill>
                  <a:srgbClr val="FFFFFF"/>
                </a:solidFill>
                <a:latin typeface="Arial"/>
                <a:ea typeface="Arial"/>
                <a:cs typeface="Arial"/>
              </a:rPr>
              <a:t>1 ngày  →  6 ngày  →  16 ngày</a:t>
            </a:r>
          </a:p>
        </p:txBody>
      </p:sp>
      <p:sp>
        <p:nvSpPr>
          <p:cNvPr id="8" name="sm2-note">
            <a:extLst>
              <a:ext uri="{FF2B5EF4-FFF2-40B4-BE49-F238E27FC236}">
                <a16:creationId xmlns:a16="http://schemas.microsoft.com/office/drawing/2014/main" id="{66177BE9-6E68-4924-9838-4C0B7B833527}"/>
              </a:ext>
            </a:extLst>
          </p:cNvPr>
          <p:cNvSpPr>
            <a:spLocks noGrp="1"/>
          </p:cNvSpPr>
          <p:nvPr/>
        </p:nvSpPr>
        <p:spPr>
          <a:xfrm>
            <a:off x="1285875" y="8048625"/>
            <a:ext cx="6096000" cy="904875"/>
          </a:xfrm>
          <a:prstGeom prst="rect">
            <a:avLst/>
          </a:prstGeom>
          <a:noFill/>
          <a:ln w="0">
            <a:noFill/>
          </a:ln>
        </p:spPr>
        <p:txBody>
          <a:bodyPr wrap="square" lIns="0" tIns="0" rIns="0" bIns="0" anchor="ctr">
            <a:noAutofit/>
          </a:bodyPr>
          <a:lstStyle/>
          <a:p>
            <a:pPr algn="l">
              <a:defRPr sz="1950" b="0">
                <a:solidFill>
                  <a:srgbClr val="D5E8EC"/>
                </a:solidFill>
                <a:latin typeface="Arial"/>
                <a:ea typeface="Arial"/>
                <a:cs typeface="Arial"/>
              </a:defRPr>
            </a:pPr>
            <a:r>
              <a:rPr sz="1950" b="0">
                <a:solidFill>
                  <a:srgbClr val="D5E8EC"/>
                </a:solidFill>
                <a:latin typeface="Arial"/>
                <a:ea typeface="Arial"/>
                <a:cs typeface="Arial"/>
              </a:rPr>
              <a:t>Chu kỳ minh họa, không phải kết quả đo hiệu quả học tập</a:t>
            </a:r>
          </a:p>
        </p:txBody>
      </p:sp>
      <p:pic>
        <p:nvPicPr>
          <p:cNvPr id="18" name="Picture 17"/>
          <p:cNvPicPr>
            <a:picLocks noChangeAspect="1"/>
          </p:cNvPicPr>
          <p:nvPr/>
        </p:nvPicPr>
        <p:blipFill>
          <a:blip r:embed="rId4"/>
          <a:stretch/>
        </p:blipFill>
        <p:spPr>
          <a:xfrm>
            <a:off x="7477125" y="2406624"/>
            <a:ext cx="10001250" cy="7235877"/>
          </a:xfrm>
          <a:prstGeom prst="rect">
            <a:avLst/>
          </a:prstGeom>
        </p:spPr>
      </p:pic>
    </p:spTree>
    <p:extLst>
      <p:ext uri="{BB962C8B-B14F-4D97-AF65-F5344CB8AC3E}">
        <p14:creationId xmlns:p14="http://schemas.microsoft.com/office/powerpoint/2010/main" val="4215435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91E26"/>
        </a:solidFill>
        <a:effectLst/>
      </p:bgPr>
    </p:bg>
    <p:spTree>
      <p:nvGrpSpPr>
        <p:cNvPr id="1" name=""/>
        <p:cNvGrpSpPr/>
        <p:nvPr/>
      </p:nvGrpSpPr>
      <p:grpSpPr>
        <a:xfrm>
          <a:off x="0" y="0"/>
          <a:ext cx="0" cy="0"/>
          <a:chOff x="0" y="0"/>
          <a:chExt cx="0" cy="0"/>
        </a:xfrm>
      </p:grpSpPr>
      <p:pic>
        <p:nvPicPr>
          <p:cNvPr id="9" name="Picture 8"/>
          <p:cNvPicPr>
            <a:picLocks noChangeAspect="1"/>
          </p:cNvPicPr>
          <p:nvPr/>
        </p:nvPicPr>
        <p:blipFill>
          <a:blip r:embed="rId3"/>
          <a:srcRect t="21875" b="21875"/>
          <a:stretch>
            <a:fillRect/>
          </a:stretch>
        </p:blipFill>
        <p:spPr>
          <a:xfrm>
            <a:off x="0" y="0"/>
            <a:ext cx="18288000" cy="10287000"/>
          </a:xfrm>
          <a:prstGeom prst="rect">
            <a:avLst/>
          </a:prstGeom>
        </p:spPr>
      </p:pic>
      <p:sp>
        <p:nvSpPr>
          <p:cNvPr id="2" name="slide-number">
            <a:extLst>
              <a:ext uri="{FF2B5EF4-FFF2-40B4-BE49-F238E27FC236}">
                <a16:creationId xmlns:a16="http://schemas.microsoft.com/office/drawing/2014/main" id="{1A1E61D7-A16D-4DD5-9B3C-E3EE52641A30}"/>
              </a:ext>
            </a:extLst>
          </p:cNvPr>
          <p:cNvSpPr>
            <a:spLocks noGrp="1"/>
          </p:cNvSpPr>
          <p:nvPr/>
        </p:nvSpPr>
        <p:spPr>
          <a:xfrm>
            <a:off x="1238250" y="495300"/>
            <a:ext cx="952500" cy="457200"/>
          </a:xfrm>
          <a:prstGeom prst="rect">
            <a:avLst/>
          </a:prstGeom>
          <a:noFill/>
          <a:ln w="0">
            <a:noFill/>
          </a:ln>
        </p:spPr>
        <p:txBody>
          <a:bodyPr wrap="square" lIns="0" tIns="0" rIns="0" bIns="0" anchor="ctr">
            <a:noAutofit/>
          </a:bodyPr>
          <a:lstStyle/>
          <a:p>
            <a:pPr algn="l">
              <a:defRPr sz="2025" b="1">
                <a:solidFill>
                  <a:srgbClr val="84E3EA"/>
                </a:solidFill>
                <a:latin typeface="Arial"/>
                <a:ea typeface="Arial"/>
                <a:cs typeface="Arial"/>
              </a:defRPr>
            </a:pPr>
            <a:r>
              <a:rPr sz="2025" b="1">
                <a:solidFill>
                  <a:srgbClr val="84E3EA"/>
                </a:solidFill>
                <a:latin typeface="Arial"/>
                <a:ea typeface="Arial"/>
                <a:cs typeface="Arial"/>
              </a:rPr>
              <a:t>08</a:t>
            </a:r>
          </a:p>
        </p:txBody>
      </p:sp>
      <p:sp>
        <p:nvSpPr>
          <p:cNvPr id="3" name="title">
            <a:extLst>
              <a:ext uri="{FF2B5EF4-FFF2-40B4-BE49-F238E27FC236}">
                <a16:creationId xmlns:a16="http://schemas.microsoft.com/office/drawing/2014/main" id="{CE317A49-BC6E-4564-A321-C28F7E7ACE38}"/>
              </a:ext>
            </a:extLst>
          </p:cNvPr>
          <p:cNvSpPr>
            <a:spLocks noGrp="1"/>
          </p:cNvSpPr>
          <p:nvPr/>
        </p:nvSpPr>
        <p:spPr>
          <a:xfrm>
            <a:off x="1238250" y="990600"/>
            <a:ext cx="15716250" cy="990600"/>
          </a:xfrm>
          <a:prstGeom prst="rect">
            <a:avLst/>
          </a:prstGeom>
          <a:noFill/>
          <a:ln w="0">
            <a:noFill/>
          </a:ln>
        </p:spPr>
        <p:txBody>
          <a:bodyPr wrap="square" lIns="0" tIns="0" rIns="0" bIns="0" anchor="ctr">
            <a:noAutofit/>
          </a:bodyPr>
          <a:lstStyle/>
          <a:p>
            <a:pPr algn="l">
              <a:defRPr sz="4425" b="1">
                <a:solidFill>
                  <a:srgbClr val="FFFFFF"/>
                </a:solidFill>
                <a:latin typeface="Arial"/>
                <a:ea typeface="Arial"/>
                <a:cs typeface="Arial"/>
              </a:defRPr>
            </a:pPr>
            <a:r>
              <a:rPr sz="4425" b="1">
                <a:solidFill>
                  <a:srgbClr val="FFFFFF"/>
                </a:solidFill>
                <a:latin typeface="Arial"/>
                <a:ea typeface="Arial"/>
                <a:cs typeface="Arial"/>
              </a:rPr>
              <a:t>Ôn ngoại tuyến, nhắc học và xem tiến độ</a:t>
            </a:r>
          </a:p>
        </p:txBody>
      </p:sp>
      <p:sp>
        <p:nvSpPr>
          <p:cNvPr id="4" name="offline-1">
            <a:extLst>
              <a:ext uri="{FF2B5EF4-FFF2-40B4-BE49-F238E27FC236}">
                <a16:creationId xmlns:a16="http://schemas.microsoft.com/office/drawing/2014/main" id="{E68B991D-17D8-47FF-BBB8-972C76E517A1}"/>
              </a:ext>
            </a:extLst>
          </p:cNvPr>
          <p:cNvSpPr>
            <a:spLocks noGrp="1"/>
          </p:cNvSpPr>
          <p:nvPr/>
        </p:nvSpPr>
        <p:spPr>
          <a:xfrm>
            <a:off x="1238250" y="2809875"/>
            <a:ext cx="6953250" cy="1095375"/>
          </a:xfrm>
          <a:prstGeom prst="rect">
            <a:avLst/>
          </a:prstGeom>
          <a:noFill/>
          <a:ln w="0">
            <a:noFill/>
          </a:ln>
        </p:spPr>
        <p:txBody>
          <a:bodyPr wrap="square" lIns="0" tIns="0" rIns="0" bIns="0" anchor="ctr">
            <a:noAutofit/>
          </a:bodyPr>
          <a:lstStyle/>
          <a:p>
            <a:pPr algn="l">
              <a:defRPr sz="2775" b="1">
                <a:solidFill>
                  <a:srgbClr val="FFFFFF"/>
                </a:solidFill>
                <a:latin typeface="Arial"/>
                <a:ea typeface="Arial"/>
                <a:cs typeface="Arial"/>
              </a:defRPr>
            </a:pPr>
            <a:r>
              <a:rPr sz="2775" b="1">
                <a:solidFill>
                  <a:srgbClr val="FFFFFF"/>
                </a:solidFill>
                <a:latin typeface="Arial"/>
                <a:ea typeface="Arial"/>
                <a:cs typeface="Arial"/>
              </a:rPr>
              <a:t>Thẻ đã lưu và lịch ôn được đọc từ SQLite</a:t>
            </a:r>
          </a:p>
        </p:txBody>
      </p:sp>
      <p:sp>
        <p:nvSpPr>
          <p:cNvPr id="5" name="offline-2">
            <a:extLst>
              <a:ext uri="{FF2B5EF4-FFF2-40B4-BE49-F238E27FC236}">
                <a16:creationId xmlns:a16="http://schemas.microsoft.com/office/drawing/2014/main" id="{011FEE4D-2796-44C9-98F3-D66474B9AE9C}"/>
              </a:ext>
            </a:extLst>
          </p:cNvPr>
          <p:cNvSpPr>
            <a:spLocks noGrp="1"/>
          </p:cNvSpPr>
          <p:nvPr/>
        </p:nvSpPr>
        <p:spPr>
          <a:xfrm>
            <a:off x="1238250" y="4572000"/>
            <a:ext cx="6953250" cy="1095375"/>
          </a:xfrm>
          <a:prstGeom prst="rect">
            <a:avLst/>
          </a:prstGeom>
          <a:noFill/>
          <a:ln w="0">
            <a:noFill/>
          </a:ln>
        </p:spPr>
        <p:txBody>
          <a:bodyPr wrap="square" lIns="0" tIns="0" rIns="0" bIns="0" anchor="ctr">
            <a:noAutofit/>
          </a:bodyPr>
          <a:lstStyle/>
          <a:p>
            <a:pPr algn="l">
              <a:defRPr sz="2775" b="1">
                <a:solidFill>
                  <a:srgbClr val="FFFFFF"/>
                </a:solidFill>
                <a:latin typeface="Arial"/>
                <a:ea typeface="Arial"/>
                <a:cs typeface="Arial"/>
              </a:defRPr>
            </a:pPr>
            <a:r>
              <a:rPr sz="2775" b="1">
                <a:solidFill>
                  <a:srgbClr val="FFFFFF"/>
                </a:solidFill>
                <a:latin typeface="Arial"/>
                <a:ea typeface="Arial"/>
                <a:cs typeface="Arial"/>
              </a:rPr>
              <a:t>Lượt ôn được giữ khi mở lại ứng dụng</a:t>
            </a:r>
          </a:p>
        </p:txBody>
      </p:sp>
      <p:sp>
        <p:nvSpPr>
          <p:cNvPr id="6" name="offline-3">
            <a:extLst>
              <a:ext uri="{FF2B5EF4-FFF2-40B4-BE49-F238E27FC236}">
                <a16:creationId xmlns:a16="http://schemas.microsoft.com/office/drawing/2014/main" id="{73C39354-8046-428A-A209-60B0BF997B1C}"/>
              </a:ext>
            </a:extLst>
          </p:cNvPr>
          <p:cNvSpPr>
            <a:spLocks noGrp="1"/>
          </p:cNvSpPr>
          <p:nvPr/>
        </p:nvSpPr>
        <p:spPr>
          <a:xfrm>
            <a:off x="1238250" y="6334125"/>
            <a:ext cx="6953250" cy="1095375"/>
          </a:xfrm>
          <a:prstGeom prst="rect">
            <a:avLst/>
          </a:prstGeom>
          <a:noFill/>
          <a:ln w="0">
            <a:noFill/>
          </a:ln>
        </p:spPr>
        <p:txBody>
          <a:bodyPr wrap="square" lIns="0" tIns="0" rIns="0" bIns="0" anchor="ctr">
            <a:noAutofit/>
          </a:bodyPr>
          <a:lstStyle/>
          <a:p>
            <a:pPr algn="l">
              <a:defRPr sz="2775" b="1">
                <a:solidFill>
                  <a:srgbClr val="FFFFFF"/>
                </a:solidFill>
                <a:latin typeface="Arial"/>
                <a:ea typeface="Arial"/>
                <a:cs typeface="Arial"/>
              </a:defRPr>
            </a:pPr>
            <a:r>
              <a:rPr sz="2775" b="1">
                <a:solidFill>
                  <a:srgbClr val="FFFFFF"/>
                </a:solidFill>
                <a:latin typeface="Arial"/>
                <a:ea typeface="Arial"/>
                <a:cs typeface="Arial"/>
              </a:rPr>
              <a:t>Thông báo mở lại danh sách thẻ đến hạn</a:t>
            </a:r>
          </a:p>
        </p:txBody>
      </p:sp>
      <p:pic>
        <p:nvPicPr>
          <p:cNvPr id="15" name="Picture 14"/>
          <p:cNvPicPr>
            <a:picLocks noChangeAspect="1"/>
          </p:cNvPicPr>
          <p:nvPr/>
        </p:nvPicPr>
        <p:blipFill>
          <a:blip r:embed="rId4"/>
          <a:stretch/>
        </p:blipFill>
        <p:spPr>
          <a:xfrm>
            <a:off x="8961759" y="2238375"/>
            <a:ext cx="3269607" cy="7096125"/>
          </a:xfrm>
          <a:prstGeom prst="rect">
            <a:avLst/>
          </a:prstGeom>
        </p:spPr>
      </p:pic>
      <p:pic>
        <p:nvPicPr>
          <p:cNvPr id="16" name="Picture 15"/>
          <p:cNvPicPr>
            <a:picLocks noChangeAspect="1"/>
          </p:cNvPicPr>
          <p:nvPr/>
        </p:nvPicPr>
        <p:blipFill>
          <a:blip r:embed="rId5"/>
          <a:stretch/>
        </p:blipFill>
        <p:spPr>
          <a:xfrm>
            <a:off x="13149652" y="2238375"/>
            <a:ext cx="3275821" cy="7096125"/>
          </a:xfrm>
          <a:prstGeom prst="rect">
            <a:avLst/>
          </a:prstGeom>
        </p:spPr>
      </p:pic>
    </p:spTree>
    <p:extLst>
      <p:ext uri="{BB962C8B-B14F-4D97-AF65-F5344CB8AC3E}">
        <p14:creationId xmlns:p14="http://schemas.microsoft.com/office/powerpoint/2010/main" val="129458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91E26"/>
        </a:solidFill>
        <a:effectLst/>
      </p:bgPr>
    </p:bg>
    <p:spTree>
      <p:nvGrpSpPr>
        <p:cNvPr id="1" name=""/>
        <p:cNvGrpSpPr/>
        <p:nvPr/>
      </p:nvGrpSpPr>
      <p:grpSpPr>
        <a:xfrm>
          <a:off x="0" y="0"/>
          <a:ext cx="0" cy="0"/>
          <a:chOff x="0" y="0"/>
          <a:chExt cx="0" cy="0"/>
        </a:xfrm>
      </p:grpSpPr>
      <p:pic>
        <p:nvPicPr>
          <p:cNvPr id="13" name="Picture 12"/>
          <p:cNvPicPr>
            <a:picLocks noChangeAspect="1"/>
          </p:cNvPicPr>
          <p:nvPr/>
        </p:nvPicPr>
        <p:blipFill>
          <a:blip r:embed="rId3"/>
          <a:srcRect t="21875" b="21875"/>
          <a:stretch>
            <a:fillRect/>
          </a:stretch>
        </p:blipFill>
        <p:spPr>
          <a:xfrm>
            <a:off x="0" y="0"/>
            <a:ext cx="18288000" cy="10287000"/>
          </a:xfrm>
          <a:prstGeom prst="rect">
            <a:avLst/>
          </a:prstGeom>
        </p:spPr>
      </p:pic>
      <p:sp>
        <p:nvSpPr>
          <p:cNvPr id="2" name="slide-number">
            <a:extLst>
              <a:ext uri="{FF2B5EF4-FFF2-40B4-BE49-F238E27FC236}">
                <a16:creationId xmlns:a16="http://schemas.microsoft.com/office/drawing/2014/main" id="{9E6C1ACE-2901-40D8-BEC4-AB5C3AB7005F}"/>
              </a:ext>
            </a:extLst>
          </p:cNvPr>
          <p:cNvSpPr>
            <a:spLocks noGrp="1"/>
          </p:cNvSpPr>
          <p:nvPr/>
        </p:nvSpPr>
        <p:spPr>
          <a:xfrm>
            <a:off x="1238250" y="495300"/>
            <a:ext cx="952500" cy="457200"/>
          </a:xfrm>
          <a:prstGeom prst="rect">
            <a:avLst/>
          </a:prstGeom>
          <a:noFill/>
          <a:ln w="0">
            <a:noFill/>
          </a:ln>
        </p:spPr>
        <p:txBody>
          <a:bodyPr wrap="square" lIns="0" tIns="0" rIns="0" bIns="0" anchor="ctr">
            <a:noAutofit/>
          </a:bodyPr>
          <a:lstStyle/>
          <a:p>
            <a:pPr algn="l">
              <a:defRPr sz="2025" b="1">
                <a:solidFill>
                  <a:srgbClr val="84E3EA"/>
                </a:solidFill>
                <a:latin typeface="Arial"/>
                <a:ea typeface="Arial"/>
                <a:cs typeface="Arial"/>
              </a:defRPr>
            </a:pPr>
            <a:r>
              <a:rPr sz="2025" b="1">
                <a:solidFill>
                  <a:srgbClr val="84E3EA"/>
                </a:solidFill>
                <a:latin typeface="Arial"/>
                <a:ea typeface="Arial"/>
                <a:cs typeface="Arial"/>
              </a:rPr>
              <a:t>09</a:t>
            </a:r>
          </a:p>
        </p:txBody>
      </p:sp>
      <p:sp>
        <p:nvSpPr>
          <p:cNvPr id="3" name="title">
            <a:extLst>
              <a:ext uri="{FF2B5EF4-FFF2-40B4-BE49-F238E27FC236}">
                <a16:creationId xmlns:a16="http://schemas.microsoft.com/office/drawing/2014/main" id="{801B556F-3D37-42CC-B162-307F6E35C07A}"/>
              </a:ext>
            </a:extLst>
          </p:cNvPr>
          <p:cNvSpPr>
            <a:spLocks noGrp="1"/>
          </p:cNvSpPr>
          <p:nvPr/>
        </p:nvSpPr>
        <p:spPr>
          <a:xfrm>
            <a:off x="1238250" y="990600"/>
            <a:ext cx="15716250" cy="990600"/>
          </a:xfrm>
          <a:prstGeom prst="rect">
            <a:avLst/>
          </a:prstGeom>
          <a:noFill/>
          <a:ln w="0">
            <a:noFill/>
          </a:ln>
        </p:spPr>
        <p:txBody>
          <a:bodyPr wrap="square" lIns="0" tIns="0" rIns="0" bIns="0" anchor="ctr">
            <a:noAutofit/>
          </a:bodyPr>
          <a:lstStyle/>
          <a:p>
            <a:pPr algn="l">
              <a:defRPr sz="4425" b="1">
                <a:solidFill>
                  <a:srgbClr val="FFFFFF"/>
                </a:solidFill>
                <a:latin typeface="Arial"/>
                <a:ea typeface="Arial"/>
                <a:cs typeface="Arial"/>
              </a:defRPr>
            </a:pPr>
            <a:r>
              <a:rPr sz="4425" b="1">
                <a:solidFill>
                  <a:srgbClr val="FFFFFF"/>
                </a:solidFill>
                <a:latin typeface="Arial"/>
                <a:ea typeface="Arial"/>
                <a:cs typeface="Arial"/>
              </a:rPr>
              <a:t>Tài khoản, sao lưu và đồng bộ</a:t>
            </a:r>
          </a:p>
        </p:txBody>
      </p:sp>
      <p:pic>
        <p:nvPicPr>
          <p:cNvPr id="16" name="Picture 15"/>
          <p:cNvPicPr>
            <a:picLocks noChangeAspect="1"/>
          </p:cNvPicPr>
          <p:nvPr/>
        </p:nvPicPr>
        <p:blipFill>
          <a:blip r:embed="rId4"/>
          <a:stretch/>
        </p:blipFill>
        <p:spPr>
          <a:xfrm>
            <a:off x="1333500" y="2492667"/>
            <a:ext cx="7191375" cy="6397041"/>
          </a:xfrm>
          <a:prstGeom prst="rect">
            <a:avLst/>
          </a:prstGeom>
        </p:spPr>
      </p:pic>
      <p:sp>
        <p:nvSpPr>
          <p:cNvPr id="5" name="email-redaction">
            <a:extLst>
              <a:ext uri="{FF2B5EF4-FFF2-40B4-BE49-F238E27FC236}">
                <a16:creationId xmlns:a16="http://schemas.microsoft.com/office/drawing/2014/main" id="{F8FC5356-BAE3-43CC-87F3-B627EEEB4430}"/>
              </a:ext>
            </a:extLst>
          </p:cNvPr>
          <p:cNvSpPr>
            <a:spLocks noGrp="1"/>
          </p:cNvSpPr>
          <p:nvPr/>
        </p:nvSpPr>
        <p:spPr>
          <a:xfrm>
            <a:off x="5114925" y="3733800"/>
            <a:ext cx="2809875" cy="428625"/>
          </a:xfrm>
          <a:prstGeom prst="rect">
            <a:avLst/>
          </a:prstGeom>
          <a:solidFill>
            <a:srgbClr val="FFFFFF"/>
          </a:solidFill>
          <a:ln w="0">
            <a:noFill/>
          </a:ln>
        </p:spPr>
      </p:sp>
      <p:sp>
        <p:nvSpPr>
          <p:cNvPr id="6" name="verified-account">
            <a:extLst>
              <a:ext uri="{FF2B5EF4-FFF2-40B4-BE49-F238E27FC236}">
                <a16:creationId xmlns:a16="http://schemas.microsoft.com/office/drawing/2014/main" id="{6914FBFD-C35A-4FC2-8285-7295E42A16F8}"/>
              </a:ext>
            </a:extLst>
          </p:cNvPr>
          <p:cNvSpPr>
            <a:spLocks noGrp="1"/>
          </p:cNvSpPr>
          <p:nvPr/>
        </p:nvSpPr>
        <p:spPr>
          <a:xfrm>
            <a:off x="5191125" y="3743325"/>
            <a:ext cx="2714625" cy="409575"/>
          </a:xfrm>
          <a:prstGeom prst="rect">
            <a:avLst/>
          </a:prstGeom>
          <a:noFill/>
          <a:ln w="0">
            <a:noFill/>
          </a:ln>
        </p:spPr>
        <p:txBody>
          <a:bodyPr wrap="square" lIns="0" tIns="0" rIns="0" bIns="0" anchor="ctr">
            <a:noAutofit/>
          </a:bodyPr>
          <a:lstStyle/>
          <a:p>
            <a:pPr algn="l">
              <a:defRPr sz="1650" b="1">
                <a:solidFill>
                  <a:srgbClr val="142931"/>
                </a:solidFill>
                <a:latin typeface="Arial"/>
                <a:ea typeface="Arial"/>
                <a:cs typeface="Arial"/>
              </a:defRPr>
            </a:pPr>
            <a:r>
              <a:rPr sz="1650" b="1">
                <a:solidFill>
                  <a:srgbClr val="142931"/>
                </a:solidFill>
                <a:latin typeface="Arial"/>
                <a:ea typeface="Arial"/>
                <a:cs typeface="Arial"/>
              </a:rPr>
              <a:t>Tài khoản đã xác minh</a:t>
            </a:r>
          </a:p>
        </p:txBody>
      </p:sp>
      <p:sp>
        <p:nvSpPr>
          <p:cNvPr id="7" name="cloud-1">
            <a:extLst>
              <a:ext uri="{FF2B5EF4-FFF2-40B4-BE49-F238E27FC236}">
                <a16:creationId xmlns:a16="http://schemas.microsoft.com/office/drawing/2014/main" id="{15587D5D-0AC8-419B-9729-8C28D9FED418}"/>
              </a:ext>
            </a:extLst>
          </p:cNvPr>
          <p:cNvSpPr>
            <a:spLocks noGrp="1"/>
          </p:cNvSpPr>
          <p:nvPr/>
        </p:nvSpPr>
        <p:spPr>
          <a:xfrm>
            <a:off x="9906000" y="2857500"/>
            <a:ext cx="6667500" cy="590550"/>
          </a:xfrm>
          <a:prstGeom prst="rect">
            <a:avLst/>
          </a:prstGeom>
          <a:noFill/>
          <a:ln w="0">
            <a:noFill/>
          </a:ln>
        </p:spPr>
        <p:txBody>
          <a:bodyPr wrap="square" lIns="0" tIns="0" rIns="0" bIns="0" anchor="ctr">
            <a:noAutofit/>
          </a:bodyPr>
          <a:lstStyle/>
          <a:p>
            <a:pPr algn="l">
              <a:defRPr sz="2775" b="1">
                <a:solidFill>
                  <a:srgbClr val="84E3EA"/>
                </a:solidFill>
                <a:latin typeface="Arial"/>
                <a:ea typeface="Arial"/>
                <a:cs typeface="Arial"/>
              </a:defRPr>
            </a:pPr>
            <a:r>
              <a:rPr sz="2775" b="1">
                <a:solidFill>
                  <a:srgbClr val="84E3EA"/>
                </a:solidFill>
                <a:latin typeface="Arial"/>
                <a:ea typeface="Arial"/>
                <a:cs typeface="Arial"/>
              </a:rPr>
              <a:t>Firebase Authentication</a:t>
            </a:r>
          </a:p>
        </p:txBody>
      </p:sp>
      <p:sp>
        <p:nvSpPr>
          <p:cNvPr id="8" name="cloud-1-detail">
            <a:extLst>
              <a:ext uri="{FF2B5EF4-FFF2-40B4-BE49-F238E27FC236}">
                <a16:creationId xmlns:a16="http://schemas.microsoft.com/office/drawing/2014/main" id="{893A058D-BF3B-4836-BA68-5E98676EFAC8}"/>
              </a:ext>
            </a:extLst>
          </p:cNvPr>
          <p:cNvSpPr>
            <a:spLocks noGrp="1"/>
          </p:cNvSpPr>
          <p:nvPr/>
        </p:nvSpPr>
        <p:spPr>
          <a:xfrm>
            <a:off x="9906000" y="3476625"/>
            <a:ext cx="6667500" cy="571500"/>
          </a:xfrm>
          <a:prstGeom prst="rect">
            <a:avLst/>
          </a:prstGeom>
          <a:noFill/>
          <a:ln w="0">
            <a:noFill/>
          </a:ln>
        </p:spPr>
        <p:txBody>
          <a:bodyPr wrap="square" lIns="0" tIns="0" rIns="0" bIns="0" anchor="ctr">
            <a:noAutofit/>
          </a:bodyPr>
          <a:lstStyle/>
          <a:p>
            <a:pPr algn="l">
              <a:defRPr sz="2250" b="0">
                <a:solidFill>
                  <a:srgbClr val="FFFFFF"/>
                </a:solidFill>
                <a:latin typeface="Arial"/>
                <a:ea typeface="Arial"/>
                <a:cs typeface="Arial"/>
              </a:defRPr>
            </a:pPr>
            <a:r>
              <a:rPr sz="2250" b="0">
                <a:solidFill>
                  <a:srgbClr val="FFFFFF"/>
                </a:solidFill>
                <a:latin typeface="Arial"/>
                <a:ea typeface="Arial"/>
                <a:cs typeface="Arial"/>
              </a:rPr>
              <a:t>Xác minh tài khoản trước tác vụ cloud</a:t>
            </a:r>
          </a:p>
        </p:txBody>
      </p:sp>
      <p:sp>
        <p:nvSpPr>
          <p:cNvPr id="9" name="cloud-2">
            <a:extLst>
              <a:ext uri="{FF2B5EF4-FFF2-40B4-BE49-F238E27FC236}">
                <a16:creationId xmlns:a16="http://schemas.microsoft.com/office/drawing/2014/main" id="{3654BFEE-5F35-4E31-A538-A44B4F360B68}"/>
              </a:ext>
            </a:extLst>
          </p:cNvPr>
          <p:cNvSpPr>
            <a:spLocks noGrp="1"/>
          </p:cNvSpPr>
          <p:nvPr/>
        </p:nvSpPr>
        <p:spPr>
          <a:xfrm>
            <a:off x="9906000" y="4762500"/>
            <a:ext cx="6667500" cy="590550"/>
          </a:xfrm>
          <a:prstGeom prst="rect">
            <a:avLst/>
          </a:prstGeom>
          <a:noFill/>
          <a:ln w="0">
            <a:noFill/>
          </a:ln>
        </p:spPr>
        <p:txBody>
          <a:bodyPr wrap="square" lIns="0" tIns="0" rIns="0" bIns="0" anchor="ctr">
            <a:noAutofit/>
          </a:bodyPr>
          <a:lstStyle/>
          <a:p>
            <a:pPr algn="l">
              <a:defRPr sz="2775" b="1">
                <a:solidFill>
                  <a:srgbClr val="84E3EA"/>
                </a:solidFill>
                <a:latin typeface="Arial"/>
                <a:ea typeface="Arial"/>
                <a:cs typeface="Arial"/>
              </a:defRPr>
            </a:pPr>
            <a:r>
              <a:rPr sz="2775" b="1">
                <a:solidFill>
                  <a:srgbClr val="84E3EA"/>
                </a:solidFill>
                <a:latin typeface="Arial"/>
                <a:ea typeface="Arial"/>
                <a:cs typeface="Arial"/>
              </a:rPr>
              <a:t>Firestore</a:t>
            </a:r>
          </a:p>
        </p:txBody>
      </p:sp>
      <p:sp>
        <p:nvSpPr>
          <p:cNvPr id="10" name="cloud-2-detail">
            <a:extLst>
              <a:ext uri="{FF2B5EF4-FFF2-40B4-BE49-F238E27FC236}">
                <a16:creationId xmlns:a16="http://schemas.microsoft.com/office/drawing/2014/main" id="{E0D61DC3-E864-4C15-BF21-3705E7004549}"/>
              </a:ext>
            </a:extLst>
          </p:cNvPr>
          <p:cNvSpPr>
            <a:spLocks noGrp="1"/>
          </p:cNvSpPr>
          <p:nvPr/>
        </p:nvSpPr>
        <p:spPr>
          <a:xfrm>
            <a:off x="9906000" y="5381625"/>
            <a:ext cx="6667500" cy="714375"/>
          </a:xfrm>
          <a:prstGeom prst="rect">
            <a:avLst/>
          </a:prstGeom>
          <a:noFill/>
          <a:ln w="0">
            <a:noFill/>
          </a:ln>
        </p:spPr>
        <p:txBody>
          <a:bodyPr wrap="square" lIns="0" tIns="0" rIns="0" bIns="0" anchor="ctr">
            <a:noAutofit/>
          </a:bodyPr>
          <a:lstStyle/>
          <a:p>
            <a:pPr algn="l">
              <a:defRPr sz="2250" b="0">
                <a:solidFill>
                  <a:srgbClr val="FFFFFF"/>
                </a:solidFill>
                <a:latin typeface="Arial"/>
                <a:ea typeface="Arial"/>
                <a:cs typeface="Arial"/>
              </a:defRPr>
            </a:pPr>
            <a:r>
              <a:rPr sz="2250" b="0">
                <a:solidFill>
                  <a:srgbClr val="FFFFFF"/>
                </a:solidFill>
                <a:latin typeface="Arial"/>
                <a:ea typeface="Arial"/>
                <a:cs typeface="Arial"/>
              </a:rPr>
              <a:t>Thư viện chuẩn, phiên bản và xung đột</a:t>
            </a:r>
          </a:p>
        </p:txBody>
      </p:sp>
      <p:sp>
        <p:nvSpPr>
          <p:cNvPr id="11" name="cloud-3">
            <a:extLst>
              <a:ext uri="{FF2B5EF4-FFF2-40B4-BE49-F238E27FC236}">
                <a16:creationId xmlns:a16="http://schemas.microsoft.com/office/drawing/2014/main" id="{7412256F-2B3E-48EC-BECF-2CC21ED78234}"/>
              </a:ext>
            </a:extLst>
          </p:cNvPr>
          <p:cNvSpPr>
            <a:spLocks noGrp="1"/>
          </p:cNvSpPr>
          <p:nvPr/>
        </p:nvSpPr>
        <p:spPr>
          <a:xfrm>
            <a:off x="9906000" y="6762750"/>
            <a:ext cx="6667500" cy="590550"/>
          </a:xfrm>
          <a:prstGeom prst="rect">
            <a:avLst/>
          </a:prstGeom>
          <a:noFill/>
          <a:ln w="0">
            <a:noFill/>
          </a:ln>
        </p:spPr>
        <p:txBody>
          <a:bodyPr wrap="square" lIns="0" tIns="0" rIns="0" bIns="0" anchor="ctr">
            <a:noAutofit/>
          </a:bodyPr>
          <a:lstStyle/>
          <a:p>
            <a:pPr algn="l">
              <a:defRPr sz="2775" b="1">
                <a:solidFill>
                  <a:srgbClr val="84E3EA"/>
                </a:solidFill>
                <a:latin typeface="Arial"/>
                <a:ea typeface="Arial"/>
                <a:cs typeface="Arial"/>
              </a:defRPr>
            </a:pPr>
            <a:r>
              <a:rPr sz="2775" b="1">
                <a:solidFill>
                  <a:srgbClr val="84E3EA"/>
                </a:solidFill>
                <a:latin typeface="Arial"/>
                <a:ea typeface="Arial"/>
                <a:cs typeface="Arial"/>
              </a:rPr>
              <a:t>Amazon S3</a:t>
            </a:r>
          </a:p>
        </p:txBody>
      </p:sp>
      <p:sp>
        <p:nvSpPr>
          <p:cNvPr id="12" name="cloud-3-detail">
            <a:extLst>
              <a:ext uri="{FF2B5EF4-FFF2-40B4-BE49-F238E27FC236}">
                <a16:creationId xmlns:a16="http://schemas.microsoft.com/office/drawing/2014/main" id="{46CFF2B8-8ACC-4418-B5FE-874D1FD84BE6}"/>
              </a:ext>
            </a:extLst>
          </p:cNvPr>
          <p:cNvSpPr>
            <a:spLocks noGrp="1"/>
          </p:cNvSpPr>
          <p:nvPr/>
        </p:nvSpPr>
        <p:spPr>
          <a:xfrm>
            <a:off x="9906000" y="7381875"/>
            <a:ext cx="6667500" cy="666750"/>
          </a:xfrm>
          <a:prstGeom prst="rect">
            <a:avLst/>
          </a:prstGeom>
          <a:noFill/>
          <a:ln w="0">
            <a:noFill/>
          </a:ln>
        </p:spPr>
        <p:txBody>
          <a:bodyPr wrap="square" lIns="0" tIns="0" rIns="0" bIns="0" anchor="ctr">
            <a:noAutofit/>
          </a:bodyPr>
          <a:lstStyle/>
          <a:p>
            <a:pPr algn="l">
              <a:defRPr sz="2250" b="0">
                <a:solidFill>
                  <a:srgbClr val="FFFFFF"/>
                </a:solidFill>
                <a:latin typeface="Arial"/>
                <a:ea typeface="Arial"/>
                <a:cs typeface="Arial"/>
              </a:defRPr>
            </a:pPr>
            <a:r>
              <a:rPr sz="2250" b="0">
                <a:solidFill>
                  <a:srgbClr val="FFFFFF"/>
                </a:solidFill>
                <a:latin typeface="Arial"/>
                <a:ea typeface="Arial"/>
                <a:cs typeface="Arial"/>
              </a:rPr>
              <a:t>Tệp nguồn và gói sao lưu riêng tư</a:t>
            </a:r>
          </a:p>
        </p:txBody>
      </p:sp>
    </p:spTree>
    <p:extLst>
      <p:ext uri="{BB962C8B-B14F-4D97-AF65-F5344CB8AC3E}">
        <p14:creationId xmlns:p14="http://schemas.microsoft.com/office/powerpoint/2010/main" val="11467644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91E26"/>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a:blip r:embed="rId3"/>
          <a:srcRect t="21875" b="21875"/>
          <a:stretch>
            <a:fillRect/>
          </a:stretch>
        </p:blipFill>
        <p:spPr>
          <a:xfrm>
            <a:off x="0" y="0"/>
            <a:ext cx="18288000" cy="10287000"/>
          </a:xfrm>
          <a:prstGeom prst="rect">
            <a:avLst/>
          </a:prstGeom>
        </p:spPr>
      </p:pic>
      <p:sp>
        <p:nvSpPr>
          <p:cNvPr id="2" name="slide-number">
            <a:extLst>
              <a:ext uri="{FF2B5EF4-FFF2-40B4-BE49-F238E27FC236}">
                <a16:creationId xmlns:a16="http://schemas.microsoft.com/office/drawing/2014/main" id="{16906CC8-E7B7-401E-9F13-4B0FFF688666}"/>
              </a:ext>
            </a:extLst>
          </p:cNvPr>
          <p:cNvSpPr>
            <a:spLocks noGrp="1"/>
          </p:cNvSpPr>
          <p:nvPr/>
        </p:nvSpPr>
        <p:spPr>
          <a:xfrm>
            <a:off x="1238250" y="495300"/>
            <a:ext cx="952500" cy="457200"/>
          </a:xfrm>
          <a:prstGeom prst="rect">
            <a:avLst/>
          </a:prstGeom>
          <a:noFill/>
          <a:ln w="0">
            <a:noFill/>
          </a:ln>
        </p:spPr>
        <p:txBody>
          <a:bodyPr wrap="square" lIns="0" tIns="0" rIns="0" bIns="0" anchor="ctr">
            <a:noAutofit/>
          </a:bodyPr>
          <a:lstStyle/>
          <a:p>
            <a:pPr algn="l">
              <a:defRPr sz="2025" b="1">
                <a:solidFill>
                  <a:srgbClr val="84E3EA"/>
                </a:solidFill>
                <a:latin typeface="Arial"/>
                <a:ea typeface="Arial"/>
                <a:cs typeface="Arial"/>
              </a:defRPr>
            </a:pPr>
            <a:r>
              <a:rPr sz="2025" b="1">
                <a:solidFill>
                  <a:srgbClr val="84E3EA"/>
                </a:solidFill>
                <a:latin typeface="Arial"/>
                <a:ea typeface="Arial"/>
                <a:cs typeface="Arial"/>
              </a:rPr>
              <a:t>10</a:t>
            </a:r>
          </a:p>
        </p:txBody>
      </p:sp>
      <p:sp>
        <p:nvSpPr>
          <p:cNvPr id="3" name="title">
            <a:extLst>
              <a:ext uri="{FF2B5EF4-FFF2-40B4-BE49-F238E27FC236}">
                <a16:creationId xmlns:a16="http://schemas.microsoft.com/office/drawing/2014/main" id="{0B38C4C4-ED15-4EBE-AC3D-8380A824BA9D}"/>
              </a:ext>
            </a:extLst>
          </p:cNvPr>
          <p:cNvSpPr>
            <a:spLocks noGrp="1"/>
          </p:cNvSpPr>
          <p:nvPr/>
        </p:nvSpPr>
        <p:spPr>
          <a:xfrm>
            <a:off x="1238250" y="990600"/>
            <a:ext cx="15716250" cy="990600"/>
          </a:xfrm>
          <a:prstGeom prst="rect">
            <a:avLst/>
          </a:prstGeom>
          <a:noFill/>
          <a:ln w="0">
            <a:noFill/>
          </a:ln>
        </p:spPr>
        <p:txBody>
          <a:bodyPr wrap="square" lIns="0" tIns="0" rIns="0" bIns="0" anchor="ctr">
            <a:noAutofit/>
          </a:bodyPr>
          <a:lstStyle/>
          <a:p>
            <a:pPr algn="l">
              <a:defRPr sz="4425" b="1">
                <a:solidFill>
                  <a:srgbClr val="FFFFFF"/>
                </a:solidFill>
                <a:latin typeface="Arial"/>
                <a:ea typeface="Arial"/>
                <a:cs typeface="Arial"/>
              </a:defRPr>
            </a:pPr>
            <a:r>
              <a:rPr sz="4425" b="1">
                <a:solidFill>
                  <a:srgbClr val="FFFFFF"/>
                </a:solidFill>
                <a:latin typeface="Arial"/>
                <a:ea typeface="Arial"/>
                <a:cs typeface="Arial"/>
              </a:rPr>
              <a:t>Kiểm thử và giới hạn kết luận</a:t>
            </a:r>
          </a:p>
        </p:txBody>
      </p:sp>
      <p:sp>
        <p:nvSpPr>
          <p:cNvPr id="4" name="test-1">
            <a:extLst>
              <a:ext uri="{FF2B5EF4-FFF2-40B4-BE49-F238E27FC236}">
                <a16:creationId xmlns:a16="http://schemas.microsoft.com/office/drawing/2014/main" id="{52F4E03C-57E8-4B8A-B1E9-B9FCAE370C5A}"/>
              </a:ext>
            </a:extLst>
          </p:cNvPr>
          <p:cNvSpPr>
            <a:spLocks noGrp="1"/>
          </p:cNvSpPr>
          <p:nvPr/>
        </p:nvSpPr>
        <p:spPr>
          <a:xfrm>
            <a:off x="1381125" y="2714625"/>
            <a:ext cx="6572250" cy="619125"/>
          </a:xfrm>
          <a:prstGeom prst="rect">
            <a:avLst/>
          </a:prstGeom>
          <a:noFill/>
          <a:ln w="0">
            <a:noFill/>
          </a:ln>
        </p:spPr>
        <p:txBody>
          <a:bodyPr wrap="square" lIns="0" tIns="0" rIns="0" bIns="0" anchor="ctr">
            <a:noAutofit/>
          </a:bodyPr>
          <a:lstStyle/>
          <a:p>
            <a:pPr algn="l">
              <a:defRPr sz="2850" b="1">
                <a:solidFill>
                  <a:srgbClr val="84E3EA"/>
                </a:solidFill>
                <a:latin typeface="Arial"/>
                <a:ea typeface="Arial"/>
                <a:cs typeface="Arial"/>
              </a:defRPr>
            </a:pPr>
            <a:r>
              <a:rPr sz="2850" b="1">
                <a:solidFill>
                  <a:srgbClr val="84E3EA"/>
                </a:solidFill>
                <a:latin typeface="Arial"/>
                <a:ea typeface="Arial"/>
                <a:cs typeface="Arial"/>
              </a:rPr>
              <a:t>Quy tắc và giao diện</a:t>
            </a:r>
          </a:p>
        </p:txBody>
      </p:sp>
      <p:sp>
        <p:nvSpPr>
          <p:cNvPr id="5" name="test-1-body">
            <a:extLst>
              <a:ext uri="{FF2B5EF4-FFF2-40B4-BE49-F238E27FC236}">
                <a16:creationId xmlns:a16="http://schemas.microsoft.com/office/drawing/2014/main" id="{1C20676B-B573-4223-AC31-D655650EE539}"/>
              </a:ext>
            </a:extLst>
          </p:cNvPr>
          <p:cNvSpPr>
            <a:spLocks noGrp="1"/>
          </p:cNvSpPr>
          <p:nvPr/>
        </p:nvSpPr>
        <p:spPr>
          <a:xfrm>
            <a:off x="1381125" y="3476625"/>
            <a:ext cx="6667500" cy="1381125"/>
          </a:xfrm>
          <a:prstGeom prst="rect">
            <a:avLst/>
          </a:prstGeom>
          <a:noFill/>
          <a:ln w="0">
            <a:noFill/>
          </a:ln>
        </p:spPr>
        <p:txBody>
          <a:bodyPr wrap="square" lIns="0" tIns="0" rIns="0" bIns="0" anchor="ctr">
            <a:noAutofit/>
          </a:bodyPr>
          <a:lstStyle/>
          <a:p>
            <a:pPr algn="l">
              <a:defRPr sz="2400" b="0">
                <a:solidFill>
                  <a:srgbClr val="FFFFFF"/>
                </a:solidFill>
                <a:latin typeface="Arial"/>
                <a:ea typeface="Arial"/>
                <a:cs typeface="Arial"/>
              </a:defRPr>
            </a:pPr>
            <a:r>
              <a:rPr sz="2400" b="0">
                <a:solidFill>
                  <a:srgbClr val="FFFFFF"/>
                </a:solidFill>
                <a:latin typeface="Arial"/>
                <a:ea typeface="Arial"/>
                <a:cs typeface="Arial"/>
              </a:rPr>
              <a:t>Unit, widget và backend test kiểm tra</a:t>
            </a:r>
          </a:p>
          <a:p>
            <a:pPr algn="l">
              <a:defRPr sz="2400" b="0">
                <a:solidFill>
                  <a:srgbClr val="FFFFFF"/>
                </a:solidFill>
                <a:latin typeface="Arial"/>
                <a:ea typeface="Arial"/>
                <a:cs typeface="Arial"/>
              </a:defRPr>
            </a:pPr>
            <a:r>
              <a:rPr sz="2400" b="0">
                <a:solidFill>
                  <a:srgbClr val="FFFFFF"/>
                </a:solidFill>
                <a:latin typeface="Arial"/>
                <a:ea typeface="Arial"/>
                <a:cs typeface="Arial"/>
              </a:rPr>
              <a:t>SM-2, SQLite, duyệt thẻ, API và lỗi.</a:t>
            </a:r>
          </a:p>
        </p:txBody>
      </p:sp>
      <p:sp>
        <p:nvSpPr>
          <p:cNvPr id="6" name="test-2">
            <a:extLst>
              <a:ext uri="{FF2B5EF4-FFF2-40B4-BE49-F238E27FC236}">
                <a16:creationId xmlns:a16="http://schemas.microsoft.com/office/drawing/2014/main" id="{46F563A7-222B-45CE-A681-A418FB0C3D64}"/>
              </a:ext>
            </a:extLst>
          </p:cNvPr>
          <p:cNvSpPr>
            <a:spLocks noGrp="1"/>
          </p:cNvSpPr>
          <p:nvPr/>
        </p:nvSpPr>
        <p:spPr>
          <a:xfrm>
            <a:off x="1381125" y="5429250"/>
            <a:ext cx="6572250" cy="619125"/>
          </a:xfrm>
          <a:prstGeom prst="rect">
            <a:avLst/>
          </a:prstGeom>
          <a:noFill/>
          <a:ln w="0">
            <a:noFill/>
          </a:ln>
        </p:spPr>
        <p:txBody>
          <a:bodyPr wrap="square" lIns="0" tIns="0" rIns="0" bIns="0" anchor="ctr">
            <a:noAutofit/>
          </a:bodyPr>
          <a:lstStyle/>
          <a:p>
            <a:pPr algn="l">
              <a:defRPr sz="2850" b="1">
                <a:solidFill>
                  <a:srgbClr val="84E3EA"/>
                </a:solidFill>
                <a:latin typeface="Arial"/>
                <a:ea typeface="Arial"/>
                <a:cs typeface="Arial"/>
              </a:defRPr>
            </a:pPr>
            <a:r>
              <a:rPr sz="2850" b="1">
                <a:solidFill>
                  <a:srgbClr val="84E3EA"/>
                </a:solidFill>
                <a:latin typeface="Arial"/>
                <a:ea typeface="Arial"/>
                <a:cs typeface="Arial"/>
              </a:rPr>
              <a:t>Luồng trên Android</a:t>
            </a:r>
          </a:p>
        </p:txBody>
      </p:sp>
      <p:sp>
        <p:nvSpPr>
          <p:cNvPr id="7" name="test-2-body">
            <a:extLst>
              <a:ext uri="{FF2B5EF4-FFF2-40B4-BE49-F238E27FC236}">
                <a16:creationId xmlns:a16="http://schemas.microsoft.com/office/drawing/2014/main" id="{4CE44D07-9265-436D-8C68-085C4951E044}"/>
              </a:ext>
            </a:extLst>
          </p:cNvPr>
          <p:cNvSpPr>
            <a:spLocks noGrp="1"/>
          </p:cNvSpPr>
          <p:nvPr/>
        </p:nvSpPr>
        <p:spPr>
          <a:xfrm>
            <a:off x="1381125" y="6191250"/>
            <a:ext cx="6667500" cy="1381125"/>
          </a:xfrm>
          <a:prstGeom prst="rect">
            <a:avLst/>
          </a:prstGeom>
          <a:noFill/>
          <a:ln w="0">
            <a:noFill/>
          </a:ln>
        </p:spPr>
        <p:txBody>
          <a:bodyPr wrap="square" lIns="0" tIns="0" rIns="0" bIns="0" anchor="ctr">
            <a:noAutofit/>
          </a:bodyPr>
          <a:lstStyle/>
          <a:p>
            <a:pPr algn="l">
              <a:defRPr sz="2400" b="0">
                <a:solidFill>
                  <a:srgbClr val="FFFFFF"/>
                </a:solidFill>
                <a:latin typeface="Arial"/>
                <a:ea typeface="Arial"/>
                <a:cs typeface="Arial"/>
              </a:defRPr>
            </a:pPr>
            <a:r>
              <a:rPr sz="2400" b="0">
                <a:solidFill>
                  <a:srgbClr val="FFFFFF"/>
                </a:solidFill>
                <a:latin typeface="Arial"/>
                <a:ea typeface="Arial"/>
                <a:cs typeface="Arial"/>
              </a:rPr>
              <a:t>Nhập tài liệu → OCR → duyệt thẻ → ôn;</a:t>
            </a:r>
          </a:p>
          <a:p>
            <a:pPr algn="l">
              <a:defRPr sz="2400" b="0">
                <a:solidFill>
                  <a:srgbClr val="FFFFFF"/>
                </a:solidFill>
                <a:latin typeface="Arial"/>
                <a:ea typeface="Arial"/>
                <a:cs typeface="Arial"/>
              </a:defRPr>
            </a:pPr>
            <a:r>
              <a:rPr sz="2400" b="0">
                <a:solidFill>
                  <a:srgbClr val="FFFFFF"/>
                </a:solidFill>
                <a:latin typeface="Arial"/>
                <a:ea typeface="Arial"/>
                <a:cs typeface="Arial"/>
              </a:rPr>
              <a:t>kiểm tra dữ liệu sau khi mở lại app.</a:t>
            </a:r>
          </a:p>
        </p:txBody>
      </p:sp>
      <p:sp>
        <p:nvSpPr>
          <p:cNvPr id="8" name="limit">
            <a:extLst>
              <a:ext uri="{FF2B5EF4-FFF2-40B4-BE49-F238E27FC236}">
                <a16:creationId xmlns:a16="http://schemas.microsoft.com/office/drawing/2014/main" id="{52CC0987-62F2-4CBD-B979-809C4D0459D5}"/>
              </a:ext>
            </a:extLst>
          </p:cNvPr>
          <p:cNvSpPr>
            <a:spLocks noGrp="1"/>
          </p:cNvSpPr>
          <p:nvPr/>
        </p:nvSpPr>
        <p:spPr>
          <a:xfrm>
            <a:off x="9334500" y="2714625"/>
            <a:ext cx="7524750" cy="666750"/>
          </a:xfrm>
          <a:prstGeom prst="rect">
            <a:avLst/>
          </a:prstGeom>
          <a:noFill/>
          <a:ln w="0">
            <a:noFill/>
          </a:ln>
        </p:spPr>
        <p:txBody>
          <a:bodyPr wrap="square" lIns="0" tIns="0" rIns="0" bIns="0" anchor="ctr">
            <a:noAutofit/>
          </a:bodyPr>
          <a:lstStyle/>
          <a:p>
            <a:pPr algn="l">
              <a:defRPr sz="2550" b="1">
                <a:solidFill>
                  <a:srgbClr val="84E3EA"/>
                </a:solidFill>
                <a:latin typeface="Arial"/>
                <a:ea typeface="Arial"/>
                <a:cs typeface="Arial"/>
              </a:defRPr>
            </a:pPr>
            <a:r>
              <a:rPr sz="2550" b="1">
                <a:solidFill>
                  <a:srgbClr val="84E3EA"/>
                </a:solidFill>
                <a:latin typeface="Arial"/>
                <a:ea typeface="Arial"/>
                <a:cs typeface="Arial"/>
              </a:rPr>
              <a:t>CHƯA CÓ PHÉP ĐO ĐỂ KẾT LUẬN</a:t>
            </a:r>
          </a:p>
        </p:txBody>
      </p:sp>
      <p:sp>
        <p:nvSpPr>
          <p:cNvPr id="9" name="limit-body">
            <a:extLst>
              <a:ext uri="{FF2B5EF4-FFF2-40B4-BE49-F238E27FC236}">
                <a16:creationId xmlns:a16="http://schemas.microsoft.com/office/drawing/2014/main" id="{A8D5A809-7B02-409A-949D-05561AC0406D}"/>
              </a:ext>
            </a:extLst>
          </p:cNvPr>
          <p:cNvSpPr>
            <a:spLocks noGrp="1"/>
          </p:cNvSpPr>
          <p:nvPr/>
        </p:nvSpPr>
        <p:spPr>
          <a:xfrm>
            <a:off x="9334500" y="3619500"/>
            <a:ext cx="7620000" cy="3143250"/>
          </a:xfrm>
          <a:prstGeom prst="rect">
            <a:avLst/>
          </a:prstGeom>
          <a:noFill/>
          <a:ln w="0">
            <a:noFill/>
          </a:ln>
        </p:spPr>
        <p:txBody>
          <a:bodyPr wrap="square" lIns="0" tIns="0" rIns="0" bIns="0" anchor="ctr">
            <a:noAutofit/>
          </a:bodyPr>
          <a:lstStyle/>
          <a:p>
            <a:pPr algn="l">
              <a:defRPr sz="2550" b="0">
                <a:solidFill>
                  <a:srgbClr val="FFFFFF"/>
                </a:solidFill>
                <a:latin typeface="Arial"/>
                <a:ea typeface="Arial"/>
                <a:cs typeface="Arial"/>
              </a:defRPr>
            </a:pPr>
            <a:r>
              <a:rPr sz="2550" b="0">
                <a:solidFill>
                  <a:srgbClr val="FFFFFF"/>
                </a:solidFill>
                <a:latin typeface="Arial"/>
                <a:ea typeface="Arial"/>
                <a:cs typeface="Arial"/>
              </a:rPr>
              <a:t>• OCR tiếng Việt đạt độ chính xác bao nhiêu</a:t>
            </a:r>
          </a:p>
          <a:p>
            <a:endParaRPr sz="2550" b="0">
              <a:solidFill>
                <a:srgbClr val="FFFFFF"/>
              </a:solidFill>
              <a:latin typeface="Arial"/>
              <a:ea typeface="Arial"/>
              <a:cs typeface="Arial"/>
            </a:endParaRPr>
          </a:p>
          <a:p>
            <a:pPr algn="l">
              <a:defRPr sz="2550" b="0">
                <a:solidFill>
                  <a:srgbClr val="FFFFFF"/>
                </a:solidFill>
                <a:latin typeface="Arial"/>
                <a:ea typeface="Arial"/>
                <a:cs typeface="Arial"/>
              </a:defRPr>
            </a:pPr>
            <a:r>
              <a:rPr sz="2550" b="0">
                <a:solidFill>
                  <a:srgbClr val="FFFFFF"/>
                </a:solidFill>
                <a:latin typeface="Arial"/>
                <a:ea typeface="Arial"/>
                <a:cs typeface="Arial"/>
              </a:rPr>
              <a:t>• Tỷ lệ thẻ AI đúng là bao nhiêu</a:t>
            </a:r>
          </a:p>
          <a:p>
            <a:endParaRPr sz="2550" b="0">
              <a:solidFill>
                <a:srgbClr val="FFFFFF"/>
              </a:solidFill>
              <a:latin typeface="Arial"/>
              <a:ea typeface="Arial"/>
              <a:cs typeface="Arial"/>
            </a:endParaRPr>
          </a:p>
          <a:p>
            <a:pPr algn="l">
              <a:defRPr sz="2550" b="0">
                <a:solidFill>
                  <a:srgbClr val="FFFFFF"/>
                </a:solidFill>
                <a:latin typeface="Arial"/>
                <a:ea typeface="Arial"/>
                <a:cs typeface="Arial"/>
              </a:defRPr>
            </a:pPr>
            <a:r>
              <a:rPr sz="2550" b="0">
                <a:solidFill>
                  <a:srgbClr val="FFFFFF"/>
                </a:solidFill>
                <a:latin typeface="Arial"/>
                <a:ea typeface="Arial"/>
                <a:cs typeface="Arial"/>
              </a:rPr>
              <a:t>• Điểm học tập của người dùng tăng bao nhiêu</a:t>
            </a:r>
          </a:p>
        </p:txBody>
      </p:sp>
      <p:sp>
        <p:nvSpPr>
          <p:cNvPr id="10" name="test-note">
            <a:extLst>
              <a:ext uri="{FF2B5EF4-FFF2-40B4-BE49-F238E27FC236}">
                <a16:creationId xmlns:a16="http://schemas.microsoft.com/office/drawing/2014/main" id="{8E0FE7D5-B5BB-4E00-AB1A-498EE04D8F73}"/>
              </a:ext>
            </a:extLst>
          </p:cNvPr>
          <p:cNvSpPr>
            <a:spLocks noGrp="1"/>
          </p:cNvSpPr>
          <p:nvPr/>
        </p:nvSpPr>
        <p:spPr>
          <a:xfrm>
            <a:off x="1381125" y="8382000"/>
            <a:ext cx="15525750" cy="666750"/>
          </a:xfrm>
          <a:prstGeom prst="rect">
            <a:avLst/>
          </a:prstGeom>
          <a:noFill/>
          <a:ln w="0">
            <a:noFill/>
          </a:ln>
        </p:spPr>
        <p:txBody>
          <a:bodyPr wrap="square" lIns="0" tIns="0" rIns="0" bIns="0" anchor="ctr">
            <a:noAutofit/>
          </a:bodyPr>
          <a:lstStyle/>
          <a:p>
            <a:pPr algn="l">
              <a:defRPr sz="2100" b="0">
                <a:solidFill>
                  <a:srgbClr val="D5E8EC"/>
                </a:solidFill>
                <a:latin typeface="Arial"/>
                <a:ea typeface="Arial"/>
                <a:cs typeface="Arial"/>
              </a:defRPr>
            </a:pPr>
            <a:r>
              <a:rPr sz="2100" b="0">
                <a:solidFill>
                  <a:srgbClr val="D5E8EC"/>
                </a:solidFill>
                <a:latin typeface="Arial"/>
                <a:ea typeface="Arial"/>
                <a:cs typeface="Arial"/>
              </a:rPr>
              <a:t>Test giả lập và emulator không thay thế phép kiểm tra dịch vụ hoặc hai thiết bị thật.</a:t>
            </a:r>
          </a:p>
        </p:txBody>
      </p:sp>
    </p:spTree>
    <p:extLst>
      <p:ext uri="{BB962C8B-B14F-4D97-AF65-F5344CB8AC3E}">
        <p14:creationId xmlns:p14="http://schemas.microsoft.com/office/powerpoint/2010/main" val="20423914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91E26"/>
        </a:solidFill>
        <a:effectLst/>
      </p:bgPr>
    </p:bg>
    <p:spTree>
      <p:nvGrpSpPr>
        <p:cNvPr id="1" name=""/>
        <p:cNvGrpSpPr/>
        <p:nvPr/>
      </p:nvGrpSpPr>
      <p:grpSpPr>
        <a:xfrm>
          <a:off x="0" y="0"/>
          <a:ext cx="0" cy="0"/>
          <a:chOff x="0" y="0"/>
          <a:chExt cx="0" cy="0"/>
        </a:xfrm>
      </p:grpSpPr>
      <p:pic>
        <p:nvPicPr>
          <p:cNvPr id="9" name="Picture 8"/>
          <p:cNvPicPr>
            <a:picLocks noChangeAspect="1"/>
          </p:cNvPicPr>
          <p:nvPr/>
        </p:nvPicPr>
        <p:blipFill>
          <a:blip r:embed="rId3"/>
          <a:srcRect t="21875" b="21875"/>
          <a:stretch>
            <a:fillRect/>
          </a:stretch>
        </p:blipFill>
        <p:spPr>
          <a:xfrm>
            <a:off x="0" y="0"/>
            <a:ext cx="18288000" cy="10287000"/>
          </a:xfrm>
          <a:prstGeom prst="rect">
            <a:avLst/>
          </a:prstGeom>
        </p:spPr>
      </p:pic>
      <p:sp>
        <p:nvSpPr>
          <p:cNvPr id="2" name="slide-number">
            <a:extLst>
              <a:ext uri="{FF2B5EF4-FFF2-40B4-BE49-F238E27FC236}">
                <a16:creationId xmlns:a16="http://schemas.microsoft.com/office/drawing/2014/main" id="{C498569B-AE48-405A-BD09-101BBA0E9A74}"/>
              </a:ext>
            </a:extLst>
          </p:cNvPr>
          <p:cNvSpPr>
            <a:spLocks noGrp="1"/>
          </p:cNvSpPr>
          <p:nvPr/>
        </p:nvSpPr>
        <p:spPr>
          <a:xfrm>
            <a:off x="1238250" y="495300"/>
            <a:ext cx="952500" cy="457200"/>
          </a:xfrm>
          <a:prstGeom prst="rect">
            <a:avLst/>
          </a:prstGeom>
          <a:noFill/>
          <a:ln w="0">
            <a:noFill/>
          </a:ln>
        </p:spPr>
        <p:txBody>
          <a:bodyPr wrap="square" lIns="0" tIns="0" rIns="0" bIns="0" anchor="ctr">
            <a:noAutofit/>
          </a:bodyPr>
          <a:lstStyle/>
          <a:p>
            <a:pPr algn="l">
              <a:defRPr sz="2025" b="1">
                <a:solidFill>
                  <a:srgbClr val="84E3EA"/>
                </a:solidFill>
                <a:latin typeface="Arial"/>
                <a:ea typeface="Arial"/>
                <a:cs typeface="Arial"/>
              </a:defRPr>
            </a:pPr>
            <a:r>
              <a:rPr sz="2025" b="1">
                <a:solidFill>
                  <a:srgbClr val="84E3EA"/>
                </a:solidFill>
                <a:latin typeface="Arial"/>
                <a:ea typeface="Arial"/>
                <a:cs typeface="Arial"/>
              </a:rPr>
              <a:t>11</a:t>
            </a:r>
          </a:p>
        </p:txBody>
      </p:sp>
      <p:sp>
        <p:nvSpPr>
          <p:cNvPr id="3" name="title">
            <a:extLst>
              <a:ext uri="{FF2B5EF4-FFF2-40B4-BE49-F238E27FC236}">
                <a16:creationId xmlns:a16="http://schemas.microsoft.com/office/drawing/2014/main" id="{B3F8EC2B-FE40-46B9-BEE9-261442B66669}"/>
              </a:ext>
            </a:extLst>
          </p:cNvPr>
          <p:cNvSpPr>
            <a:spLocks noGrp="1"/>
          </p:cNvSpPr>
          <p:nvPr/>
        </p:nvSpPr>
        <p:spPr>
          <a:xfrm>
            <a:off x="1238250" y="990600"/>
            <a:ext cx="15716250" cy="990600"/>
          </a:xfrm>
          <a:prstGeom prst="rect">
            <a:avLst/>
          </a:prstGeom>
          <a:noFill/>
          <a:ln w="0">
            <a:noFill/>
          </a:ln>
        </p:spPr>
        <p:txBody>
          <a:bodyPr wrap="square" lIns="0" tIns="0" rIns="0" bIns="0" anchor="ctr">
            <a:noAutofit/>
          </a:bodyPr>
          <a:lstStyle/>
          <a:p>
            <a:pPr algn="l">
              <a:defRPr sz="4425" b="1">
                <a:solidFill>
                  <a:srgbClr val="FFFFFF"/>
                </a:solidFill>
                <a:latin typeface="Arial"/>
                <a:ea typeface="Arial"/>
                <a:cs typeface="Arial"/>
              </a:defRPr>
            </a:pPr>
            <a:r>
              <a:rPr sz="4425" b="1">
                <a:solidFill>
                  <a:srgbClr val="FFFFFF"/>
                </a:solidFill>
                <a:latin typeface="Arial"/>
                <a:ea typeface="Arial"/>
                <a:cs typeface="Arial"/>
              </a:rPr>
              <a:t>Kết quả hiện tại và hai việc cần làm tiếp</a:t>
            </a:r>
          </a:p>
        </p:txBody>
      </p:sp>
      <p:sp>
        <p:nvSpPr>
          <p:cNvPr id="4" name="conclusion-label">
            <a:extLst>
              <a:ext uri="{FF2B5EF4-FFF2-40B4-BE49-F238E27FC236}">
                <a16:creationId xmlns:a16="http://schemas.microsoft.com/office/drawing/2014/main" id="{69C4BCC8-D841-4B4C-B604-D53E4BA4C2A6}"/>
              </a:ext>
            </a:extLst>
          </p:cNvPr>
          <p:cNvSpPr>
            <a:spLocks noGrp="1"/>
          </p:cNvSpPr>
          <p:nvPr/>
        </p:nvSpPr>
        <p:spPr>
          <a:xfrm>
            <a:off x="1381125" y="2714625"/>
            <a:ext cx="14859000" cy="571500"/>
          </a:xfrm>
          <a:prstGeom prst="rect">
            <a:avLst/>
          </a:prstGeom>
          <a:noFill/>
          <a:ln w="0">
            <a:noFill/>
          </a:ln>
        </p:spPr>
        <p:txBody>
          <a:bodyPr wrap="square" lIns="0" tIns="0" rIns="0" bIns="0" anchor="ctr">
            <a:noAutofit/>
          </a:bodyPr>
          <a:lstStyle/>
          <a:p>
            <a:pPr algn="l">
              <a:defRPr sz="2625" b="1">
                <a:solidFill>
                  <a:srgbClr val="84E3EA"/>
                </a:solidFill>
                <a:latin typeface="Arial"/>
                <a:ea typeface="Arial"/>
                <a:cs typeface="Arial"/>
              </a:defRPr>
            </a:pPr>
            <a:r>
              <a:rPr sz="2625" b="1">
                <a:solidFill>
                  <a:srgbClr val="84E3EA"/>
                </a:solidFill>
                <a:latin typeface="Arial"/>
                <a:ea typeface="Arial"/>
                <a:cs typeface="Arial"/>
              </a:rPr>
              <a:t>ĐÃ KẾT NỐI THÀNH MỘT LUỒNG</a:t>
            </a:r>
          </a:p>
        </p:txBody>
      </p:sp>
      <p:sp>
        <p:nvSpPr>
          <p:cNvPr id="5" name="conclusion">
            <a:extLst>
              <a:ext uri="{FF2B5EF4-FFF2-40B4-BE49-F238E27FC236}">
                <a16:creationId xmlns:a16="http://schemas.microsoft.com/office/drawing/2014/main" id="{699F49A1-0433-44F8-983C-EDA0AA7E71D1}"/>
              </a:ext>
            </a:extLst>
          </p:cNvPr>
          <p:cNvSpPr>
            <a:spLocks noGrp="1"/>
          </p:cNvSpPr>
          <p:nvPr/>
        </p:nvSpPr>
        <p:spPr>
          <a:xfrm>
            <a:off x="1381125" y="3476625"/>
            <a:ext cx="15240000" cy="1666875"/>
          </a:xfrm>
          <a:prstGeom prst="rect">
            <a:avLst/>
          </a:prstGeom>
          <a:noFill/>
          <a:ln w="0">
            <a:noFill/>
          </a:ln>
        </p:spPr>
        <p:txBody>
          <a:bodyPr wrap="square" lIns="0" tIns="0" rIns="0" bIns="0" anchor="ctr">
            <a:noAutofit/>
          </a:bodyPr>
          <a:lstStyle/>
          <a:p>
            <a:pPr algn="l">
              <a:defRPr sz="3375" b="1">
                <a:solidFill>
                  <a:srgbClr val="FFFFFF"/>
                </a:solidFill>
                <a:latin typeface="Arial"/>
                <a:ea typeface="Arial"/>
                <a:cs typeface="Arial"/>
              </a:defRPr>
            </a:pPr>
            <a:r>
              <a:rPr sz="3375" b="1">
                <a:solidFill>
                  <a:srgbClr val="FFFFFF"/>
                </a:solidFill>
                <a:latin typeface="Arial"/>
                <a:ea typeface="Arial"/>
                <a:cs typeface="Arial"/>
              </a:rPr>
              <a:t>Tài liệu → văn bản đã duyệt → thẻ có nguồn</a:t>
            </a:r>
          </a:p>
          <a:p>
            <a:pPr algn="l">
              <a:defRPr sz="3375" b="1">
                <a:solidFill>
                  <a:srgbClr val="FFFFFF"/>
                </a:solidFill>
                <a:latin typeface="Arial"/>
                <a:ea typeface="Arial"/>
                <a:cs typeface="Arial"/>
              </a:defRPr>
            </a:pPr>
            <a:r>
              <a:rPr sz="3375" b="1">
                <a:solidFill>
                  <a:srgbClr val="FFFFFF"/>
                </a:solidFill>
                <a:latin typeface="Arial"/>
                <a:ea typeface="Arial"/>
                <a:cs typeface="Arial"/>
              </a:rPr>
              <a:t>→ phiên ôn và lịch học ngoại tuyến</a:t>
            </a:r>
          </a:p>
        </p:txBody>
      </p:sp>
      <p:sp>
        <p:nvSpPr>
          <p:cNvPr id="6" name="future-label">
            <a:extLst>
              <a:ext uri="{FF2B5EF4-FFF2-40B4-BE49-F238E27FC236}">
                <a16:creationId xmlns:a16="http://schemas.microsoft.com/office/drawing/2014/main" id="{97860CCD-3028-4719-BF68-EA74AAC3C6E8}"/>
              </a:ext>
            </a:extLst>
          </p:cNvPr>
          <p:cNvSpPr>
            <a:spLocks noGrp="1"/>
          </p:cNvSpPr>
          <p:nvPr/>
        </p:nvSpPr>
        <p:spPr>
          <a:xfrm>
            <a:off x="1381125" y="5857875"/>
            <a:ext cx="14859000" cy="571500"/>
          </a:xfrm>
          <a:prstGeom prst="rect">
            <a:avLst/>
          </a:prstGeom>
          <a:noFill/>
          <a:ln w="0">
            <a:noFill/>
          </a:ln>
        </p:spPr>
        <p:txBody>
          <a:bodyPr wrap="square" lIns="0" tIns="0" rIns="0" bIns="0" anchor="ctr">
            <a:noAutofit/>
          </a:bodyPr>
          <a:lstStyle/>
          <a:p>
            <a:pPr algn="l">
              <a:defRPr sz="2625" b="1">
                <a:solidFill>
                  <a:srgbClr val="84E3EA"/>
                </a:solidFill>
                <a:latin typeface="Arial"/>
                <a:ea typeface="Arial"/>
                <a:cs typeface="Arial"/>
              </a:defRPr>
            </a:pPr>
            <a:r>
              <a:rPr sz="2625" b="1">
                <a:solidFill>
                  <a:srgbClr val="84E3EA"/>
                </a:solidFill>
                <a:latin typeface="Arial"/>
                <a:ea typeface="Arial"/>
                <a:cs typeface="Arial"/>
              </a:rPr>
              <a:t>HƯỚNG PHÁT TRIỂN ƯU TIÊN</a:t>
            </a:r>
          </a:p>
        </p:txBody>
      </p:sp>
      <p:sp>
        <p:nvSpPr>
          <p:cNvPr id="7" name="future-1">
            <a:extLst>
              <a:ext uri="{FF2B5EF4-FFF2-40B4-BE49-F238E27FC236}">
                <a16:creationId xmlns:a16="http://schemas.microsoft.com/office/drawing/2014/main" id="{05A33D92-401E-4364-A478-B56EF9B6E09C}"/>
              </a:ext>
            </a:extLst>
          </p:cNvPr>
          <p:cNvSpPr>
            <a:spLocks noGrp="1"/>
          </p:cNvSpPr>
          <p:nvPr/>
        </p:nvSpPr>
        <p:spPr>
          <a:xfrm>
            <a:off x="1381125" y="6667500"/>
            <a:ext cx="15240000" cy="619125"/>
          </a:xfrm>
          <a:prstGeom prst="rect">
            <a:avLst/>
          </a:prstGeom>
          <a:noFill/>
          <a:ln w="0">
            <a:noFill/>
          </a:ln>
        </p:spPr>
        <p:txBody>
          <a:bodyPr wrap="square" lIns="0" tIns="0" rIns="0" bIns="0" anchor="ctr">
            <a:noAutofit/>
          </a:bodyPr>
          <a:lstStyle/>
          <a:p>
            <a:pPr algn="l">
              <a:defRPr sz="2550" b="0">
                <a:solidFill>
                  <a:srgbClr val="FFFFFF"/>
                </a:solidFill>
                <a:latin typeface="Arial"/>
                <a:ea typeface="Arial"/>
                <a:cs typeface="Arial"/>
              </a:defRPr>
            </a:pPr>
            <a:r>
              <a:rPr sz="2550" b="0">
                <a:solidFill>
                  <a:srgbClr val="FFFFFF"/>
                </a:solidFill>
                <a:latin typeface="Arial"/>
                <a:ea typeface="Arial"/>
                <a:cs typeface="Arial"/>
              </a:rPr>
              <a:t>1. Đo OCR và chấm chất lượng thẻ AI trên bộ dữ liệu chuẩn</a:t>
            </a:r>
            <a:endParaRPr lang="en-US" sz="2550" b="0">
              <a:solidFill>
                <a:srgbClr val="FFFFFF"/>
              </a:solidFill>
              <a:latin typeface="Arial"/>
              <a:ea typeface="Arial"/>
              <a:cs typeface="Arial"/>
            </a:endParaRPr>
          </a:p>
          <a:p>
            <a:pPr algn="l">
              <a:defRPr sz="2550" b="0">
                <a:solidFill>
                  <a:srgbClr val="FFFFFF"/>
                </a:solidFill>
                <a:latin typeface="Arial"/>
                <a:ea typeface="Arial"/>
                <a:cs typeface="Arial"/>
              </a:defRPr>
            </a:pPr>
            <a:r>
              <a:rPr lang="en-US" sz="2550">
                <a:solidFill>
                  <a:srgbClr val="FFFFFF"/>
                </a:solidFill>
                <a:latin typeface="Arial"/>
                <a:ea typeface="Arial"/>
                <a:cs typeface="Arial"/>
              </a:rPr>
              <a:t>2. Cho phép chia sẻ bộ thẻ với người khác</a:t>
            </a:r>
            <a:endParaRPr sz="2550" b="0">
              <a:solidFill>
                <a:srgbClr val="FFFFFF"/>
              </a:solidFill>
              <a:latin typeface="Arial"/>
              <a:ea typeface="Arial"/>
              <a:cs typeface="Arial"/>
            </a:endParaRPr>
          </a:p>
        </p:txBody>
      </p:sp>
    </p:spTree>
    <p:extLst>
      <p:ext uri="{BB962C8B-B14F-4D97-AF65-F5344CB8AC3E}">
        <p14:creationId xmlns:p14="http://schemas.microsoft.com/office/powerpoint/2010/main" val="13511118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91E26"/>
        </a:solidFill>
        <a:effectLst/>
      </p:bgPr>
    </p:bg>
    <p:spTree>
      <p:nvGrpSpPr>
        <p:cNvPr id="1" name=""/>
        <p:cNvGrpSpPr/>
        <p:nvPr/>
      </p:nvGrpSpPr>
      <p:grpSpPr>
        <a:xfrm>
          <a:off x="0" y="0"/>
          <a:ext cx="0" cy="0"/>
          <a:chOff x="0" y="0"/>
          <a:chExt cx="0" cy="0"/>
        </a:xfrm>
      </p:grpSpPr>
      <p:sp>
        <p:nvSpPr>
          <p:cNvPr id="3" name="thanks">
            <a:extLst>
              <a:ext uri="{FF2B5EF4-FFF2-40B4-BE49-F238E27FC236}">
                <a16:creationId xmlns:a16="http://schemas.microsoft.com/office/drawing/2014/main" id="{7F760E8E-5503-4142-8A55-0A3CAEC5F060}"/>
              </a:ext>
            </a:extLst>
          </p:cNvPr>
          <p:cNvSpPr>
            <a:spLocks noGrp="1"/>
          </p:cNvSpPr>
          <p:nvPr/>
        </p:nvSpPr>
        <p:spPr>
          <a:xfrm>
            <a:off x="1619250" y="3429000"/>
            <a:ext cx="15049500" cy="1238250"/>
          </a:xfrm>
          <a:prstGeom prst="rect">
            <a:avLst/>
          </a:prstGeom>
          <a:noFill/>
          <a:ln w="0">
            <a:noFill/>
          </a:ln>
        </p:spPr>
        <p:txBody>
          <a:bodyPr wrap="square" lIns="0" tIns="0" rIns="0" bIns="0" anchor="ctr">
            <a:noAutofit/>
          </a:bodyPr>
          <a:lstStyle/>
          <a:p>
            <a:pPr algn="ctr">
              <a:defRPr sz="5625" b="1">
                <a:solidFill>
                  <a:srgbClr val="FFFFFF"/>
                </a:solidFill>
                <a:latin typeface="Arial"/>
                <a:ea typeface="Arial"/>
                <a:cs typeface="Arial"/>
              </a:defRPr>
            </a:pPr>
            <a:r>
              <a:rPr sz="5625" b="1">
                <a:solidFill>
                  <a:srgbClr val="FFFFFF"/>
                </a:solidFill>
                <a:latin typeface="Arial"/>
                <a:ea typeface="Arial"/>
                <a:cs typeface="Arial"/>
              </a:rPr>
              <a:t>CẢM ƠN THẦY VÀ CÁC BẠN</a:t>
            </a:r>
          </a:p>
        </p:txBody>
      </p:sp>
      <p:sp>
        <p:nvSpPr>
          <p:cNvPr id="2" name="questions">
            <a:extLst>
              <a:ext uri="{FF2B5EF4-FFF2-40B4-BE49-F238E27FC236}">
                <a16:creationId xmlns:a16="http://schemas.microsoft.com/office/drawing/2014/main" id="{96C3AA62-409A-4E52-880B-80E7D0CFB634}"/>
              </a:ext>
            </a:extLst>
          </p:cNvPr>
          <p:cNvSpPr>
            <a:spLocks noGrp="1"/>
          </p:cNvSpPr>
          <p:nvPr/>
        </p:nvSpPr>
        <p:spPr>
          <a:xfrm>
            <a:off x="3524250" y="5286375"/>
            <a:ext cx="11239500" cy="904875"/>
          </a:xfrm>
          <a:prstGeom prst="rect">
            <a:avLst/>
          </a:prstGeom>
          <a:noFill/>
          <a:ln w="0">
            <a:noFill/>
          </a:ln>
        </p:spPr>
        <p:txBody>
          <a:bodyPr wrap="square" lIns="0" tIns="0" rIns="0" bIns="0" anchor="ctr">
            <a:noAutofit/>
          </a:bodyPr>
          <a:lstStyle/>
          <a:p>
            <a:pPr algn="ctr">
              <a:defRPr sz="3675" b="1">
                <a:solidFill>
                  <a:srgbClr val="84E3EA"/>
                </a:solidFill>
                <a:latin typeface="Arial"/>
                <a:ea typeface="Arial"/>
                <a:cs typeface="Arial"/>
              </a:defRPr>
            </a:pPr>
            <a:r>
              <a:rPr sz="3675" b="1">
                <a:solidFill>
                  <a:srgbClr val="84E3EA"/>
                </a:solidFill>
                <a:latin typeface="Arial"/>
                <a:ea typeface="Arial"/>
                <a:cs typeface="Arial"/>
              </a:rPr>
              <a:t>Mời đặt câu hỏi</a:t>
            </a:r>
          </a:p>
        </p:txBody>
      </p:sp>
    </p:spTree>
    <p:extLst>
      <p:ext uri="{BB962C8B-B14F-4D97-AF65-F5344CB8AC3E}">
        <p14:creationId xmlns:p14="http://schemas.microsoft.com/office/powerpoint/2010/main" val="148672816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1472</Words>
  <Application>Microsoft Office PowerPoint</Application>
  <DocSecurity>0</DocSecurity>
  <PresentationFormat>Custom</PresentationFormat>
  <Paragraphs>150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Hung Le</cp:lastModifiedBy>
  <cp:revision>3</cp:revision>
  <dcterms:created xsi:type="dcterms:W3CDTF">2026-10-07T14:56:32Z</dcterms:created>
  <dcterms:modified xsi:type="dcterms:W3CDTF">2026-10-07T15:05:22Z</dcterms:modified>
</cp:coreProperties>
</file>